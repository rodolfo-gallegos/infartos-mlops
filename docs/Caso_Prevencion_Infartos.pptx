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94" r:id="rId2"/>
    <p:sldId id="295" r:id="rId3"/>
    <p:sldId id="296" r:id="rId4"/>
  </p:sldIdLst>
  <p:sldSz cx="18288000" cy="10287000"/>
  <p:notesSz cx="18288000" cy="10287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554"/>
    <a:srgbClr val="00B4FA"/>
    <a:srgbClr val="020A46"/>
    <a:srgbClr val="01B4F9"/>
    <a:srgbClr val="00B4F9"/>
    <a:srgbClr val="011654"/>
    <a:srgbClr val="000A5F"/>
    <a:srgbClr val="000C65"/>
    <a:srgbClr val="000443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BBBEFD-C835-48CD-89A9-A714EE145DAA}" v="9" dt="2024-12-07T20:04:43.9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/>
    <p:restoredTop sz="94671"/>
  </p:normalViewPr>
  <p:slideViewPr>
    <p:cSldViewPr>
      <p:cViewPr varScale="1">
        <p:scale>
          <a:sx n="58" d="100"/>
          <a:sy n="58" d="100"/>
        </p:scale>
        <p:origin x="85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49" d="100"/>
          <a:sy n="49" d="100"/>
        </p:scale>
        <p:origin x="972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anfranco Palomino" userId="64dcffbf-3ea5-4d29-abfb-066722ffda38" providerId="ADAL" clId="{199FB219-45FB-46BE-9A97-5C0D4594BEC1}"/>
    <pc:docChg chg="custSel modSld">
      <pc:chgData name="Geanfranco Palomino" userId="64dcffbf-3ea5-4d29-abfb-066722ffda38" providerId="ADAL" clId="{199FB219-45FB-46BE-9A97-5C0D4594BEC1}" dt="2021-05-11T01:02:51.928" v="0" actId="478"/>
      <pc:docMkLst>
        <pc:docMk/>
      </pc:docMkLst>
      <pc:sldChg chg="delSp mod">
        <pc:chgData name="Geanfranco Palomino" userId="64dcffbf-3ea5-4d29-abfb-066722ffda38" providerId="ADAL" clId="{199FB219-45FB-46BE-9A97-5C0D4594BEC1}" dt="2021-05-11T01:02:51.928" v="0" actId="478"/>
        <pc:sldMkLst>
          <pc:docMk/>
          <pc:sldMk cId="4216120555" sldId="294"/>
        </pc:sldMkLst>
        <pc:picChg chg="del">
          <ac:chgData name="Geanfranco Palomino" userId="64dcffbf-3ea5-4d29-abfb-066722ffda38" providerId="ADAL" clId="{199FB219-45FB-46BE-9A97-5C0D4594BEC1}" dt="2021-05-11T01:02:51.928" v="0" actId="478"/>
          <ac:picMkLst>
            <pc:docMk/>
            <pc:sldMk cId="4216120555" sldId="294"/>
            <ac:picMk id="13" creationId="{3F34987F-14FA-4709-870A-BE45A0BA0853}"/>
          </ac:picMkLst>
        </pc:picChg>
      </pc:sldChg>
    </pc:docChg>
  </pc:docChgLst>
  <pc:docChgLst>
    <pc:chgData name="Julio Cesar Bernal Fernandez" userId="0de7daa9-1ad9-4fe1-906d-ff3ad10b5b2b" providerId="ADAL" clId="{D6BBBEFD-C835-48CD-89A9-A714EE145DAA}"/>
    <pc:docChg chg="undo custSel addSld modSld">
      <pc:chgData name="Julio Cesar Bernal Fernandez" userId="0de7daa9-1ad9-4fe1-906d-ff3ad10b5b2b" providerId="ADAL" clId="{D6BBBEFD-C835-48CD-89A9-A714EE145DAA}" dt="2024-12-07T20:05:01.505" v="71" actId="1076"/>
      <pc:docMkLst>
        <pc:docMk/>
      </pc:docMkLst>
      <pc:sldChg chg="modSp add mod">
        <pc:chgData name="Julio Cesar Bernal Fernandez" userId="0de7daa9-1ad9-4fe1-906d-ff3ad10b5b2b" providerId="ADAL" clId="{D6BBBEFD-C835-48CD-89A9-A714EE145DAA}" dt="2024-12-07T20:00:38.161" v="46" actId="2710"/>
        <pc:sldMkLst>
          <pc:docMk/>
          <pc:sldMk cId="1414226396" sldId="295"/>
        </pc:sldMkLst>
        <pc:spChg chg="mod">
          <ac:chgData name="Julio Cesar Bernal Fernandez" userId="0de7daa9-1ad9-4fe1-906d-ff3ad10b5b2b" providerId="ADAL" clId="{D6BBBEFD-C835-48CD-89A9-A714EE145DAA}" dt="2024-12-07T19:59:26.989" v="9" actId="790"/>
          <ac:spMkLst>
            <pc:docMk/>
            <pc:sldMk cId="1414226396" sldId="295"/>
            <ac:spMk id="11" creationId="{454EB480-792C-11F7-A888-04D22DC1E6C2}"/>
          </ac:spMkLst>
        </pc:spChg>
        <pc:spChg chg="mod">
          <ac:chgData name="Julio Cesar Bernal Fernandez" userId="0de7daa9-1ad9-4fe1-906d-ff3ad10b5b2b" providerId="ADAL" clId="{D6BBBEFD-C835-48CD-89A9-A714EE145DAA}" dt="2024-12-07T20:00:38.161" v="46" actId="2710"/>
          <ac:spMkLst>
            <pc:docMk/>
            <pc:sldMk cId="1414226396" sldId="295"/>
            <ac:spMk id="12" creationId="{73107C10-7217-9045-3AF6-74810240AC32}"/>
          </ac:spMkLst>
        </pc:spChg>
      </pc:sldChg>
      <pc:sldChg chg="addSp delSp modSp add mod">
        <pc:chgData name="Julio Cesar Bernal Fernandez" userId="0de7daa9-1ad9-4fe1-906d-ff3ad10b5b2b" providerId="ADAL" clId="{D6BBBEFD-C835-48CD-89A9-A714EE145DAA}" dt="2024-12-07T20:05:01.505" v="71" actId="1076"/>
        <pc:sldMkLst>
          <pc:docMk/>
          <pc:sldMk cId="4275268764" sldId="296"/>
        </pc:sldMkLst>
        <pc:spChg chg="mod">
          <ac:chgData name="Julio Cesar Bernal Fernandez" userId="0de7daa9-1ad9-4fe1-906d-ff3ad10b5b2b" providerId="ADAL" clId="{D6BBBEFD-C835-48CD-89A9-A714EE145DAA}" dt="2024-12-07T20:00:57.841" v="58" actId="20577"/>
          <ac:spMkLst>
            <pc:docMk/>
            <pc:sldMk cId="4275268764" sldId="296"/>
            <ac:spMk id="11" creationId="{E018B231-2C58-36F3-877C-B2385213CDEE}"/>
          </ac:spMkLst>
        </pc:spChg>
        <pc:spChg chg="del">
          <ac:chgData name="Julio Cesar Bernal Fernandez" userId="0de7daa9-1ad9-4fe1-906d-ff3ad10b5b2b" providerId="ADAL" clId="{D6BBBEFD-C835-48CD-89A9-A714EE145DAA}" dt="2024-12-07T20:00:59.745" v="59" actId="478"/>
          <ac:spMkLst>
            <pc:docMk/>
            <pc:sldMk cId="4275268764" sldId="296"/>
            <ac:spMk id="12" creationId="{C44DFABD-9ACF-5F72-9C29-FC04C8AB26F5}"/>
          </ac:spMkLst>
        </pc:spChg>
        <pc:graphicFrameChg chg="add mod">
          <ac:chgData name="Julio Cesar Bernal Fernandez" userId="0de7daa9-1ad9-4fe1-906d-ff3ad10b5b2b" providerId="ADAL" clId="{D6BBBEFD-C835-48CD-89A9-A714EE145DAA}" dt="2024-12-07T20:04:33.688" v="60"/>
          <ac:graphicFrameMkLst>
            <pc:docMk/>
            <pc:sldMk cId="4275268764" sldId="296"/>
            <ac:graphicFrameMk id="2" creationId="{56D28BC2-602D-64AE-C5BC-BBC02363D31E}"/>
          </ac:graphicFrameMkLst>
        </pc:graphicFrameChg>
        <pc:graphicFrameChg chg="add del mod">
          <ac:chgData name="Julio Cesar Bernal Fernandez" userId="0de7daa9-1ad9-4fe1-906d-ff3ad10b5b2b" providerId="ADAL" clId="{D6BBBEFD-C835-48CD-89A9-A714EE145DAA}" dt="2024-12-07T20:04:41.765" v="63" actId="478"/>
          <ac:graphicFrameMkLst>
            <pc:docMk/>
            <pc:sldMk cId="4275268764" sldId="296"/>
            <ac:graphicFrameMk id="3" creationId="{5C323C76-E9D5-C109-DB1E-69B7A09C38A3}"/>
          </ac:graphicFrameMkLst>
        </pc:graphicFrameChg>
        <pc:graphicFrameChg chg="add mod modGraphic">
          <ac:chgData name="Julio Cesar Bernal Fernandez" userId="0de7daa9-1ad9-4fe1-906d-ff3ad10b5b2b" providerId="ADAL" clId="{D6BBBEFD-C835-48CD-89A9-A714EE145DAA}" dt="2024-12-07T20:05:01.505" v="71" actId="1076"/>
          <ac:graphicFrameMkLst>
            <pc:docMk/>
            <pc:sldMk cId="4275268764" sldId="296"/>
            <ac:graphicFrameMk id="4" creationId="{91759C03-E0B8-12BA-F7CD-B5195FAEAA27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A91538-70D1-412A-87B3-2E160A69F6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38D571-C910-493B-A360-F87D7246DE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43443-6B69-4F79-89C8-BCDF650F0AB5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FE0C80-C3F8-4500-90E2-85A4EE079F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0C34B5-2018-4FA0-9290-CD74A238F9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5DBF14-D2B8-43C4-B49A-05E3AC8558D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11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3CB12F-A9A3-42A9-B0EE-9C224DB8DA11}" type="datetimeFigureOut">
              <a:rPr lang="en-US" smtClean="0"/>
              <a:t>12/7/2024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F9B48-DD8D-411A-A2E6-8C5CF388450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15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6022" y="1015999"/>
            <a:ext cx="16255955" cy="459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15635" y="5691845"/>
            <a:ext cx="16256728" cy="1282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FAFD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AFD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5981" y="1020760"/>
            <a:ext cx="16256037" cy="2263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0" b="1" i="0">
                <a:solidFill>
                  <a:srgbClr val="0A0E1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3">
            <a:extLst>
              <a:ext uri="{FF2B5EF4-FFF2-40B4-BE49-F238E27FC236}">
                <a16:creationId xmlns:a16="http://schemas.microsoft.com/office/drawing/2014/main" id="{F70677FB-AA8C-4265-B7C6-B75C702C5E39}"/>
              </a:ext>
            </a:extLst>
          </p:cNvPr>
          <p:cNvSpPr txBox="1">
            <a:spLocks/>
          </p:cNvSpPr>
          <p:nvPr/>
        </p:nvSpPr>
        <p:spPr>
          <a:xfrm>
            <a:off x="2206658" y="1437640"/>
            <a:ext cx="10366342" cy="46455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7500" b="1" i="0">
                <a:solidFill>
                  <a:srgbClr val="0A0E1D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25"/>
              </a:spcBef>
            </a:pPr>
            <a:br>
              <a:rPr lang="es-ES" sz="6000" kern="0" dirty="0">
                <a:solidFill>
                  <a:srgbClr val="01155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6000" kern="0" dirty="0">
              <a:solidFill>
                <a:srgbClr val="011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spcBef>
                <a:spcPts val="125"/>
              </a:spcBef>
            </a:pPr>
            <a:br>
              <a:rPr lang="es-ES" sz="6000" kern="0" dirty="0">
                <a:solidFill>
                  <a:srgbClr val="01155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6000" kern="0" dirty="0">
                <a:solidFill>
                  <a:srgbClr val="01155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6000" kern="0" dirty="0">
              <a:solidFill>
                <a:srgbClr val="011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F72E37F9-C653-46E7-B31F-645D4500B1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498280"/>
            <a:ext cx="14313178" cy="18626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ES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Prevención de infartos </a:t>
            </a:r>
            <a:br>
              <a:rPr lang="es-ES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asegurados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4189BE23-8582-4B66-9F19-F34131389270}"/>
              </a:ext>
            </a:extLst>
          </p:cNvPr>
          <p:cNvSpPr txBox="1">
            <a:spLocks/>
          </p:cNvSpPr>
          <p:nvPr/>
        </p:nvSpPr>
        <p:spPr>
          <a:xfrm>
            <a:off x="491836" y="2859249"/>
            <a:ext cx="14313178" cy="698716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7500" b="1" i="0">
                <a:solidFill>
                  <a:srgbClr val="0A0E1D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25"/>
              </a:spcBef>
            </a:pPr>
            <a:r>
              <a:rPr lang="es-ES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los enfermos con síndrome coronario agudo atendidos en hospitales la predicción de la muerte y/o infarto de miocardio no fatal en los 6 meses puede realizarse con variables sencillas</a:t>
            </a:r>
          </a:p>
          <a:p>
            <a:pPr marL="12700">
              <a:spcBef>
                <a:spcPts val="125"/>
              </a:spcBef>
            </a:pPr>
            <a:endParaRPr lang="es-ES" sz="3200" b="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spcBef>
                <a:spcPts val="125"/>
              </a:spcBef>
            </a:pPr>
            <a:r>
              <a:rPr lang="es-ES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buen diseño de modelo Machine Learning puede ayudar al paciente con alto riesgo de sufrir un infarto a prevenir tal suceso. Desde un punto de vista empresarial de una empresa de seguros es importante porque previene altos gastos como puede ser: Costos en cuidados intensivos, pago de prima por sufrimiento de infarto entre otros gatos. </a:t>
            </a:r>
          </a:p>
          <a:p>
            <a:pPr marL="12700">
              <a:spcBef>
                <a:spcPts val="125"/>
              </a:spcBef>
            </a:pPr>
            <a:endParaRPr lang="es-ES" sz="3200" b="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spcBef>
                <a:spcPts val="125"/>
              </a:spcBef>
            </a:pPr>
            <a:endParaRPr lang="es-ES" sz="3200" b="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spcBef>
                <a:spcPts val="125"/>
              </a:spcBef>
            </a:pPr>
            <a:r>
              <a:rPr lang="es-ES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lograr esta labor se ha revisado 4 años de otorgación histórica de salud de los clientes asegurados.</a:t>
            </a:r>
          </a:p>
          <a:p>
            <a:pPr marL="12700">
              <a:spcBef>
                <a:spcPts val="125"/>
              </a:spcBef>
            </a:pPr>
            <a:endParaRPr lang="es-ES" sz="3200" b="0" kern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12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A8CA0-EAA1-98FC-1742-57E9A5D2C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3">
            <a:extLst>
              <a:ext uri="{FF2B5EF4-FFF2-40B4-BE49-F238E27FC236}">
                <a16:creationId xmlns:a16="http://schemas.microsoft.com/office/drawing/2014/main" id="{55EAFAFC-E727-0F52-907D-8AE4065E4560}"/>
              </a:ext>
            </a:extLst>
          </p:cNvPr>
          <p:cNvSpPr txBox="1">
            <a:spLocks/>
          </p:cNvSpPr>
          <p:nvPr/>
        </p:nvSpPr>
        <p:spPr>
          <a:xfrm>
            <a:off x="2206658" y="1437640"/>
            <a:ext cx="10366342" cy="46455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7500" b="1" i="0">
                <a:solidFill>
                  <a:srgbClr val="0A0E1D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25"/>
              </a:spcBef>
            </a:pPr>
            <a:br>
              <a:rPr lang="es-ES" sz="6000" kern="0" dirty="0">
                <a:solidFill>
                  <a:srgbClr val="01155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6000" kern="0" dirty="0">
              <a:solidFill>
                <a:srgbClr val="011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spcBef>
                <a:spcPts val="125"/>
              </a:spcBef>
            </a:pPr>
            <a:br>
              <a:rPr lang="es-ES" sz="6000" kern="0" dirty="0">
                <a:solidFill>
                  <a:srgbClr val="01155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6000" kern="0" dirty="0">
                <a:solidFill>
                  <a:srgbClr val="01155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6000" kern="0" dirty="0">
              <a:solidFill>
                <a:srgbClr val="011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454EB480-792C-11F7-A888-04D22DC1E6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498280"/>
            <a:ext cx="14313178" cy="939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PE" sz="6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Actividades a realizar</a:t>
            </a: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73107C10-7217-9045-3AF6-74810240AC32}"/>
              </a:ext>
            </a:extLst>
          </p:cNvPr>
          <p:cNvSpPr txBox="1">
            <a:spLocks/>
          </p:cNvSpPr>
          <p:nvPr/>
        </p:nvSpPr>
        <p:spPr>
          <a:xfrm>
            <a:off x="457200" y="1790700"/>
            <a:ext cx="17221200" cy="740119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7500" b="1" i="0">
                <a:solidFill>
                  <a:srgbClr val="0A0E1D"/>
                </a:solidFill>
                <a:latin typeface="Arial"/>
                <a:ea typeface="+mj-ea"/>
                <a:cs typeface="Arial"/>
              </a:defRPr>
            </a:lvl1pPr>
          </a:lstStyle>
          <a:p>
            <a:pPr marL="469900" indent="-457200">
              <a:lnSpc>
                <a:spcPct val="150000"/>
              </a:lnSpc>
              <a:spcBef>
                <a:spcPts val="125"/>
              </a:spcBef>
              <a:buFont typeface="Wingdings" panose="05000000000000000000" pitchFamily="2" charset="2"/>
              <a:buChar char="q"/>
            </a:pPr>
            <a:r>
              <a:rPr lang="es-PE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Desarrollar un correcto preprocesamiento y secuencia en el análisis de las variables y del caso. ( </a:t>
            </a:r>
            <a:r>
              <a:rPr lang="es-PE" sz="3200" b="0" kern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s-PE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notebook Python)</a:t>
            </a:r>
          </a:p>
          <a:p>
            <a:pPr marL="469900" indent="-457200">
              <a:lnSpc>
                <a:spcPct val="150000"/>
              </a:lnSpc>
              <a:spcBef>
                <a:spcPts val="125"/>
              </a:spcBef>
              <a:buFont typeface="Wingdings" panose="05000000000000000000" pitchFamily="2" charset="2"/>
              <a:buChar char="q"/>
            </a:pPr>
            <a:r>
              <a:rPr lang="es-PE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Desarrollar un modelo predictivo que nos ayude a predecir que cliente tiene mayor probabilidad de tener potencial en el incremental de venta. ( </a:t>
            </a:r>
            <a:r>
              <a:rPr lang="es-PE" sz="3200" b="0" kern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s-PE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notebook Python)</a:t>
            </a:r>
          </a:p>
          <a:p>
            <a:pPr marL="927100" lvl="1" indent="-457200">
              <a:lnSpc>
                <a:spcPct val="150000"/>
              </a:lnSpc>
              <a:spcBef>
                <a:spcPts val="125"/>
              </a:spcBef>
              <a:buFont typeface="Wingdings" panose="05000000000000000000" pitchFamily="2" charset="2"/>
              <a:buChar char="ü"/>
            </a:pPr>
            <a:r>
              <a:rPr lang="es-PE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Desarrollar una presentación donde exponga los siguientes puntos ( máx. 10 diapositivas)</a:t>
            </a:r>
          </a:p>
          <a:p>
            <a:pPr marL="927100" lvl="1" indent="-457200">
              <a:lnSpc>
                <a:spcPct val="150000"/>
              </a:lnSpc>
              <a:spcBef>
                <a:spcPts val="125"/>
              </a:spcBef>
              <a:buFont typeface="Wingdings" panose="05000000000000000000" pitchFamily="2" charset="2"/>
              <a:buChar char="ü"/>
            </a:pPr>
            <a:r>
              <a:rPr lang="es-PE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Descripción del caso.</a:t>
            </a:r>
          </a:p>
          <a:p>
            <a:pPr marL="927100" lvl="1" indent="-457200">
              <a:lnSpc>
                <a:spcPct val="150000"/>
              </a:lnSpc>
              <a:spcBef>
                <a:spcPts val="125"/>
              </a:spcBef>
              <a:buFont typeface="Wingdings" panose="05000000000000000000" pitchFamily="2" charset="2"/>
              <a:buChar char="ü"/>
            </a:pPr>
            <a:r>
              <a:rPr lang="es-PE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de la solución (modelo).</a:t>
            </a:r>
          </a:p>
          <a:p>
            <a:pPr marL="927100" lvl="1" indent="-457200">
              <a:lnSpc>
                <a:spcPct val="150000"/>
              </a:lnSpc>
              <a:spcBef>
                <a:spcPts val="125"/>
              </a:spcBef>
              <a:buFont typeface="Wingdings" panose="05000000000000000000" pitchFamily="2" charset="2"/>
              <a:buChar char="ü"/>
            </a:pPr>
            <a:r>
              <a:rPr lang="es-PE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 del modelo.</a:t>
            </a:r>
          </a:p>
          <a:p>
            <a:pPr marL="927100" lvl="1" indent="-457200">
              <a:lnSpc>
                <a:spcPct val="150000"/>
              </a:lnSpc>
              <a:spcBef>
                <a:spcPts val="125"/>
              </a:spcBef>
              <a:buFont typeface="Wingdings" panose="05000000000000000000" pitchFamily="2" charset="2"/>
              <a:buChar char="ü"/>
            </a:pPr>
            <a:r>
              <a:rPr lang="es-PE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Estrategia o uso del modelo.</a:t>
            </a:r>
          </a:p>
          <a:p>
            <a:pPr marL="469900" indent="-457200">
              <a:lnSpc>
                <a:spcPct val="150000"/>
              </a:lnSpc>
              <a:spcBef>
                <a:spcPts val="125"/>
              </a:spcBef>
              <a:buFont typeface="Wingdings" panose="05000000000000000000" pitchFamily="2" charset="2"/>
              <a:buChar char="q"/>
            </a:pPr>
            <a:r>
              <a:rPr lang="es-PE" sz="3200" b="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 y siguientes pasos.</a:t>
            </a:r>
          </a:p>
        </p:txBody>
      </p:sp>
    </p:spTree>
    <p:extLst>
      <p:ext uri="{BB962C8B-B14F-4D97-AF65-F5344CB8AC3E}">
        <p14:creationId xmlns:p14="http://schemas.microsoft.com/office/powerpoint/2010/main" val="1414226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DCF9A-006A-6BE3-90A3-DB7C243B3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3">
            <a:extLst>
              <a:ext uri="{FF2B5EF4-FFF2-40B4-BE49-F238E27FC236}">
                <a16:creationId xmlns:a16="http://schemas.microsoft.com/office/drawing/2014/main" id="{93CE7ACA-8AB1-219A-D6F3-81FBDDAE1E52}"/>
              </a:ext>
            </a:extLst>
          </p:cNvPr>
          <p:cNvSpPr txBox="1">
            <a:spLocks/>
          </p:cNvSpPr>
          <p:nvPr/>
        </p:nvSpPr>
        <p:spPr>
          <a:xfrm>
            <a:off x="2206658" y="1437640"/>
            <a:ext cx="10366342" cy="464550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7500" b="1" i="0">
                <a:solidFill>
                  <a:srgbClr val="0A0E1D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25"/>
              </a:spcBef>
            </a:pPr>
            <a:br>
              <a:rPr lang="es-ES" sz="6000" kern="0" dirty="0">
                <a:solidFill>
                  <a:srgbClr val="01155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6000" kern="0" dirty="0">
              <a:solidFill>
                <a:srgbClr val="011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spcBef>
                <a:spcPts val="125"/>
              </a:spcBef>
            </a:pPr>
            <a:br>
              <a:rPr lang="es-ES" sz="6000" kern="0" dirty="0">
                <a:solidFill>
                  <a:srgbClr val="01155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6000" kern="0" dirty="0">
                <a:solidFill>
                  <a:srgbClr val="01155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6000" kern="0" dirty="0">
              <a:solidFill>
                <a:srgbClr val="01155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E018B231-2C58-36F3-877C-B2385213CD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400" y="498280"/>
            <a:ext cx="14313178" cy="9393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s-PE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DICCIONARIO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1759C03-E0B8-12BA-F7CD-B5195FAEA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956790"/>
              </p:ext>
            </p:extLst>
          </p:nvPr>
        </p:nvGraphicFramePr>
        <p:xfrm>
          <a:off x="381000" y="2009332"/>
          <a:ext cx="17297400" cy="6840028"/>
        </p:xfrm>
        <a:graphic>
          <a:graphicData uri="http://schemas.openxmlformats.org/drawingml/2006/table">
            <a:tbl>
              <a:tblPr/>
              <a:tblGrid>
                <a:gridCol w="4247129">
                  <a:extLst>
                    <a:ext uri="{9D8B030D-6E8A-4147-A177-3AD203B41FA5}">
                      <a16:colId xmlns:a16="http://schemas.microsoft.com/office/drawing/2014/main" val="1387091003"/>
                    </a:ext>
                  </a:extLst>
                </a:gridCol>
                <a:gridCol w="13050271">
                  <a:extLst>
                    <a:ext uri="{9D8B030D-6E8A-4147-A177-3AD203B41FA5}">
                      <a16:colId xmlns:a16="http://schemas.microsoft.com/office/drawing/2014/main" val="257449354"/>
                    </a:ext>
                  </a:extLst>
                </a:gridCol>
              </a:tblGrid>
              <a:tr h="526156">
                <a:tc>
                  <a:txBody>
                    <a:bodyPr/>
                    <a:lstStyle/>
                    <a:p>
                      <a:pPr algn="ctr" fontAlgn="b"/>
                      <a:r>
                        <a:rPr lang="es-PE" sz="3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Columna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PE" sz="3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Descripcion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8662"/>
                  </a:ext>
                </a:extLst>
              </a:tr>
              <a:tr h="526156"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Identificador del Cliente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6605214"/>
                  </a:ext>
                </a:extLst>
              </a:tr>
              <a:tr h="526156"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Genero del Cliente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7750864"/>
                  </a:ext>
                </a:extLst>
              </a:tr>
              <a:tr h="526156"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Edad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Edad en Años del cliente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795768"/>
                  </a:ext>
                </a:extLst>
              </a:tr>
              <a:tr h="526156"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Flag_hipertension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Si= Cliente con Hipertensión, No= Cliente Sin Hipertensión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410701"/>
                  </a:ext>
                </a:extLst>
              </a:tr>
              <a:tr h="526156"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Flag_problem_cardiaco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Si= Cliente con Problemas Cardiacos, No= Cliente Sin Problemas Cardiacos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34034"/>
                  </a:ext>
                </a:extLst>
              </a:tr>
              <a:tr h="526156"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Estados_civil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Si= Cliente Si Casado, No= Cliente No Casado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056325"/>
                  </a:ext>
                </a:extLst>
              </a:tr>
              <a:tr h="526156"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Tipo_trabajo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Tipo de Trabajo donde trabaja el Cliente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521522"/>
                  </a:ext>
                </a:extLst>
              </a:tr>
              <a:tr h="526156"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Zona_residencia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Lugar donde vive el cliente (Urbano, Rural)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449741"/>
                  </a:ext>
                </a:extLst>
              </a:tr>
              <a:tr h="526156"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Promedio_nivel_glucosa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Nivel de Glucosa en la sangre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607663"/>
                  </a:ext>
                </a:extLst>
              </a:tr>
              <a:tr h="526156"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IMC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Indice de Masa Corporal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648046"/>
                  </a:ext>
                </a:extLst>
              </a:tr>
              <a:tr h="526156"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Flag_fumador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Flag si el cliente fuma, No fuma o era fumador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949111"/>
                  </a:ext>
                </a:extLst>
              </a:tr>
              <a:tr h="526156"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Ataque_cardiaco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PE" sz="3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Si= Cliente No Sufre Ataque Cardiaco, No= Cliente No Sufre Ataque Cardiaco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604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526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64a6fc3-496d-44ea-86a8-5b93f17e3566}" enabled="1" method="Standard" siteId="{3b16616d-f174-497a-a1ae-900d8510699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Words>352</Words>
  <Application>Microsoft Office PowerPoint</Application>
  <PresentationFormat>Personalizado</PresentationFormat>
  <Paragraphs>49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Office Theme</vt:lpstr>
      <vt:lpstr>Prevención de infartos  en asegurados</vt:lpstr>
      <vt:lpstr>Actividades a realizar</vt:lpstr>
      <vt:lpstr>DICCIONARIO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A  USER-FRIENDLY  MOBILE APP</dc:title>
  <dc:creator>PC</dc:creator>
  <cp:lastModifiedBy>Julio Cesar Bernal Fernandez</cp:lastModifiedBy>
  <cp:revision>27</cp:revision>
  <dcterms:created xsi:type="dcterms:W3CDTF">2020-02-10T17:45:12Z</dcterms:created>
  <dcterms:modified xsi:type="dcterms:W3CDTF">2024-12-07T20:05:11Z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2020-02-10T00:00:00Z</vt:filetime>
  </property>
</Properties>
</file>