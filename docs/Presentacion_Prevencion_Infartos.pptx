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5454"/>
                </a:solidFill>
                <a:latin typeface="Calibri"/>
              </a:rPr>
              <a:t>CASO MLOps · PROYECTO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Georgia"/>
              </a:rPr>
              <a:t>Prevención de Infartos</a:t>
            </a:r>
          </a:p>
          <a:p>
            <a:pPr algn="l"/>
            <a:r>
              <a:rPr sz="5400" b="1" i="0">
                <a:solidFill>
                  <a:srgbClr val="FFFFFF"/>
                </a:solidFill>
                <a:latin typeface="Georgia"/>
              </a:rPr>
              <a:t>en Asegurados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F5EEEC"/>
                </a:solidFill>
                <a:latin typeface="Calibri"/>
              </a:rPr>
              <a:t>Modelo predictivo de riesgo cardiovascular para reducir costos de siniestralidad</a:t>
            </a:r>
          </a:p>
        </p:txBody>
      </p:sp>
      <p:sp>
        <p:nvSpPr>
          <p:cNvPr id="7" name="Rectangle 6"/>
          <p:cNvSpPr/>
          <p:nvPr/>
        </p:nvSpPr>
        <p:spPr>
          <a:xfrm>
            <a:off x="998067" y="4206240"/>
            <a:ext cx="2377440" cy="1463040"/>
          </a:xfrm>
          <a:prstGeom prst="rect">
            <a:avLst/>
          </a:prstGeom>
          <a:solidFill>
            <a:srgbClr val="1A2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8067" y="438912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E85454"/>
                </a:solidFill>
                <a:latin typeface="Georgia"/>
              </a:rPr>
              <a:t>43,400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8067" y="51206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5EEEC"/>
                </a:solidFill>
                <a:latin typeface="Calibri"/>
              </a:rPr>
              <a:t>pacientes analizados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4107" y="4206240"/>
            <a:ext cx="2377440" cy="1463040"/>
          </a:xfrm>
          <a:prstGeom prst="rect">
            <a:avLst/>
          </a:prstGeom>
          <a:solidFill>
            <a:srgbClr val="1A2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4107" y="438912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E85454"/>
                </a:solidFill>
                <a:latin typeface="Georgia"/>
              </a:rPr>
              <a:t>2.18 %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4107" y="51206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5EEEC"/>
                </a:solidFill>
                <a:latin typeface="Calibri"/>
              </a:rPr>
              <a:t>prevalencia de infarto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147" y="4206240"/>
            <a:ext cx="2377440" cy="1463040"/>
          </a:xfrm>
          <a:prstGeom prst="rect">
            <a:avLst/>
          </a:prstGeom>
          <a:solidFill>
            <a:srgbClr val="1A2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0147" y="438912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E85454"/>
                </a:solidFill>
                <a:latin typeface="Georgia"/>
              </a:rPr>
              <a:t>80.8 %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0147" y="51206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5EEEC"/>
                </a:solidFill>
                <a:latin typeface="Calibri"/>
              </a:rPr>
              <a:t>Recall del modelo final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16187" y="4206240"/>
            <a:ext cx="2377440" cy="1463040"/>
          </a:xfrm>
          <a:prstGeom prst="rect">
            <a:avLst/>
          </a:prstGeom>
          <a:solidFill>
            <a:srgbClr val="1A2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16187" y="438912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E85454"/>
                </a:solidFill>
                <a:latin typeface="Georgia"/>
              </a:rPr>
              <a:t>126 / 156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6187" y="51206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5EEEC"/>
                </a:solidFill>
                <a:latin typeface="Calibri"/>
              </a:rPr>
              <a:t>infartos detectados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263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5EEEC"/>
                </a:solidFill>
                <a:latin typeface="Calibri"/>
              </a:rPr>
              <a:t>Eduardo Rodolfo · 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990011"/>
                </a:solidFill>
                <a:latin typeface="Calibri"/>
              </a:rPr>
              <a:t>1.  Descripción del caso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A8A8A"/>
                </a:solidFill>
                <a:latin typeface="Calibri"/>
              </a:rPr>
              <a:t>Por qué una aseguradora necesita predecir riesgo de infarto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F3C7E"/>
                </a:solidFill>
                <a:latin typeface="Calibri"/>
              </a:rPr>
              <a:t>Problema clínico y de negocio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126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300" b="1">
                <a:solidFill>
                  <a:srgbClr val="990011"/>
                </a:solidFill>
                <a:latin typeface="Calibri"/>
              </a:rPr>
              <a:t>■  </a:t>
            </a:r>
            <a:r>
              <a:rPr sz="1300">
                <a:solidFill>
                  <a:srgbClr val="36454F"/>
                </a:solidFill>
                <a:latin typeface="Calibri"/>
              </a:rPr>
              <a:t>En síndrome coronario agudo, la mortalidad y el infarto no fatal a 6 meses son predecibles con variables clínicas sencillas.</a:t>
            </a:r>
          </a:p>
          <a:p>
            <a:pPr algn="l">
              <a:spcAft>
                <a:spcPts val="1400"/>
              </a:spcAft>
            </a:pPr>
            <a:r>
              <a:rPr sz="1300" b="1">
                <a:solidFill>
                  <a:srgbClr val="990011"/>
                </a:solidFill>
                <a:latin typeface="Calibri"/>
              </a:rPr>
              <a:t>■  </a:t>
            </a:r>
            <a:r>
              <a:rPr sz="1300">
                <a:solidFill>
                  <a:srgbClr val="36454F"/>
                </a:solidFill>
                <a:latin typeface="Calibri"/>
              </a:rPr>
              <a:t>La aseguradora absorbe altos costos por hospitalización, cuidados intensivos y pago de primas tras un infarto.</a:t>
            </a:r>
          </a:p>
          <a:p>
            <a:pPr algn="l">
              <a:spcAft>
                <a:spcPts val="1400"/>
              </a:spcAft>
            </a:pPr>
            <a:r>
              <a:rPr sz="1300" b="1">
                <a:solidFill>
                  <a:srgbClr val="990011"/>
                </a:solidFill>
                <a:latin typeface="Calibri"/>
              </a:rPr>
              <a:t>■  </a:t>
            </a:r>
            <a:r>
              <a:rPr sz="1300">
                <a:solidFill>
                  <a:srgbClr val="36454F"/>
                </a:solidFill>
                <a:latin typeface="Calibri"/>
              </a:rPr>
              <a:t>Detectar a tiempo a los pacientes de alto riesgo permite intervenir preventivamente (chequeos, control de tensión, dejar de fumar).</a:t>
            </a:r>
          </a:p>
          <a:p>
            <a:pPr algn="l">
              <a:spcAft>
                <a:spcPts val="1400"/>
              </a:spcAft>
            </a:pPr>
            <a:r>
              <a:rPr sz="1300" b="1">
                <a:solidFill>
                  <a:srgbClr val="990011"/>
                </a:solidFill>
                <a:latin typeface="Calibri"/>
              </a:rPr>
              <a:t>■  </a:t>
            </a:r>
            <a:r>
              <a:rPr sz="1300">
                <a:solidFill>
                  <a:srgbClr val="36454F"/>
                </a:solidFill>
                <a:latin typeface="Calibri"/>
              </a:rPr>
              <a:t>Reducir incluso un 10 % de los siniestros evitables se traduce en ahorro significativo y mejor experiencia del asegurado.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937760"/>
            <a:ext cx="6126480" cy="13716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0749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¿Por qué Machine Learning?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44068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5EEEC"/>
                </a:solidFill>
                <a:latin typeface="Calibri"/>
              </a:rPr>
              <a:t>Las reglas clínicas tradicionales (edad &gt;60, hipertensión) son binarias y pierden el ranking continuo de riesgo. Un modelo probabilístico permite priorizar a cada paciente y definir umbrales operativos según el coste de la intervención.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1371600"/>
            <a:ext cx="4754880" cy="4937760"/>
          </a:xfrm>
          <a:prstGeom prst="rect">
            <a:avLst/>
          </a:prstGeom>
          <a:solidFill>
            <a:srgbClr val="F5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6002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990011"/>
                </a:solidFill>
                <a:latin typeface="Calibri"/>
              </a:rPr>
              <a:t>Objetivo del proyecto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2F3C7E"/>
                </a:solidFill>
                <a:latin typeface="Calibri"/>
              </a:rPr>
              <a:t>Clasificación binaria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468880"/>
            <a:ext cx="4206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6454F"/>
                </a:solidFill>
                <a:latin typeface="Calibri"/>
              </a:rPr>
              <a:t>Construir un modelo que estime la probabilidad de infarto a partir del histórico de 4 años de asegurados, y lo integre en un servicio MLOps reproducible y monitoreado.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93192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2F3C7E"/>
                </a:solidFill>
                <a:latin typeface="Calibri"/>
              </a:rPr>
              <a:t>Métrica priorizada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4251960"/>
            <a:ext cx="4206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6454F"/>
                </a:solidFill>
                <a:latin typeface="Calibri"/>
              </a:rPr>
              <a:t>Recall — minimizar falsos negativos (un paciente no detectado = costo clínico y económico alto).</a:t>
            </a:r>
          </a:p>
          <a:p>
            <a:pPr algn="l"/>
            <a:r>
              <a:rPr sz="13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6454F"/>
                </a:solidFill>
                <a:latin typeface="Calibri"/>
              </a:rPr>
              <a:t>F1 como piso — evita el modelo trivial que alerta a todo el mundo.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Prevención de Infartos en Asegurados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58368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990011"/>
                </a:solidFill>
                <a:latin typeface="Calibri"/>
              </a:rPr>
              <a:t>2. 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A8A8A"/>
                </a:solidFill>
                <a:latin typeface="Calibri"/>
              </a:rPr>
              <a:t>43,400 asegurados con 4 años de histórico clínico (sep=";")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10312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2F3C7E"/>
                </a:solidFill>
                <a:latin typeface="Georgia"/>
              </a:rPr>
              <a:t>43,400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84832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8A8A8A"/>
                </a:solidFill>
                <a:latin typeface="Calibri"/>
              </a:rPr>
              <a:t>filas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371600"/>
            <a:ext cx="210312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2F3C7E"/>
                </a:solidFill>
                <a:latin typeface="Georgia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084832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8A8A8A"/>
                </a:solidFill>
                <a:latin typeface="Calibri"/>
              </a:rPr>
              <a:t>columnas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371600"/>
            <a:ext cx="210312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6002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990011"/>
                </a:solidFill>
                <a:latin typeface="Georgia"/>
              </a:rPr>
              <a:t>2.18 %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084832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8A8A8A"/>
                </a:solidFill>
                <a:latin typeface="Calibri"/>
              </a:rPr>
              <a:t>prevalencia (+)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1371600"/>
            <a:ext cx="210312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16002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0A500"/>
                </a:solidFill>
                <a:latin typeface="Georgia"/>
              </a:rPr>
              <a:t>30.6 %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084832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8A8A8A"/>
                </a:solidFill>
                <a:latin typeface="Calibri"/>
              </a:rPr>
              <a:t>nulos Fumador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1371600"/>
            <a:ext cx="210312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16002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0A500"/>
                </a:solidFill>
                <a:latin typeface="Georgia"/>
              </a:rPr>
              <a:t>3.4 %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084832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8A8A8A"/>
                </a:solidFill>
                <a:latin typeface="Calibri"/>
              </a:rPr>
              <a:t>nulos IMC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8346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F3C7E"/>
                </a:solidFill>
                <a:latin typeface="Calibri"/>
              </a:rPr>
              <a:t>Variables predictoras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246120"/>
            <a:ext cx="1554480" cy="640080"/>
          </a:xfrm>
          <a:prstGeom prst="rect">
            <a:avLst/>
          </a:prstGeom>
          <a:solidFill>
            <a:srgbClr val="F5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24612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990011"/>
                </a:solidFill>
                <a:latin typeface="Calibri"/>
              </a:rPr>
              <a:t>Numéricas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324612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Edad, IMC, Promedio_nivel_glucosa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86200"/>
            <a:ext cx="1554480" cy="640080"/>
          </a:xfrm>
          <a:prstGeom prst="rect">
            <a:avLst/>
          </a:prstGeom>
          <a:solidFill>
            <a:srgbClr val="F5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88620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990011"/>
                </a:solidFill>
                <a:latin typeface="Calibri"/>
              </a:rPr>
              <a:t>Binarias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388620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Genero, Estados_civil, Flag_hipertension,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Flag_problem_cardiaco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526280"/>
            <a:ext cx="1554480" cy="640080"/>
          </a:xfrm>
          <a:prstGeom prst="rect">
            <a:avLst/>
          </a:prstGeom>
          <a:solidFill>
            <a:srgbClr val="F5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990011"/>
                </a:solidFill>
                <a:latin typeface="Calibri"/>
              </a:rPr>
              <a:t>Categóricas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452628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Tipo_trabajo (4), Flag_fumador (4),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Zona_residencia (2)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166360"/>
            <a:ext cx="1554480" cy="640080"/>
          </a:xfrm>
          <a:prstGeom prst="rect">
            <a:avLst/>
          </a:prstGeom>
          <a:solidFill>
            <a:srgbClr val="F5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16636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990011"/>
                </a:solidFill>
                <a:latin typeface="Calibri"/>
              </a:rPr>
              <a:t>Target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516636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Ataque_cardiaco (0/1)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28346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F3C7E"/>
                </a:solidFill>
                <a:latin typeface="Calibri"/>
              </a:rPr>
              <a:t>El reto del problema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3246120"/>
            <a:ext cx="4754880" cy="30175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lide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3383280"/>
            <a:ext cx="1828800" cy="1828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006840" y="33832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5454"/>
                </a:solidFill>
                <a:latin typeface="Calibri"/>
              </a:rPr>
              <a:t>Desbalance severo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3749039"/>
            <a:ext cx="2606040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5EEEC"/>
                </a:solidFill>
                <a:latin typeface="Calibri"/>
              </a:rPr>
              <a:t>Accuracy NO sirve: 98 % es trivial y no detecta a nadie.</a:t>
            </a:r>
          </a:p>
          <a:p>
            <a:pPr algn="l"/>
            <a:r>
              <a:rPr sz="1050" b="0" i="0">
                <a:solidFill>
                  <a:srgbClr val="F5EEEC"/>
                </a:solidFill>
                <a:latin typeface="Calibri"/>
              </a:rPr>
              <a:t/>
            </a:r>
          </a:p>
          <a:p>
            <a:pPr algn="l"/>
            <a:r>
              <a:rPr sz="1050" b="0" i="0">
                <a:solidFill>
                  <a:srgbClr val="F5EEEC"/>
                </a:solidFill>
                <a:latin typeface="Calibri"/>
              </a:rPr>
              <a:t>Recall = métrica priorizada (capta el 81 % de los infartos reales).</a:t>
            </a:r>
          </a:p>
          <a:p>
            <a:pPr algn="l"/>
            <a:r>
              <a:rPr sz="1050" b="0" i="0">
                <a:solidFill>
                  <a:srgbClr val="F5EEEC"/>
                </a:solidFill>
                <a:latin typeface="Calibri"/>
              </a:rPr>
              <a:t/>
            </a:r>
          </a:p>
          <a:p>
            <a:pPr algn="l"/>
            <a:r>
              <a:rPr sz="1050" b="0" i="0">
                <a:solidFill>
                  <a:srgbClr val="F5EEEC"/>
                </a:solidFill>
                <a:latin typeface="Calibri"/>
              </a:rPr>
              <a:t>F1 absoluto es bajo (~0.10) por el desbalance; lo que importa es el ratio sobre el baseline (4× PR-AUC).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Prevención de Infartos en Asegurados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94415" y="658368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990011"/>
                </a:solidFill>
                <a:latin typeface="Calibri"/>
              </a:rPr>
              <a:t>3.  EDA, limpieza y selección de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A8A8A"/>
                </a:solidFill>
                <a:latin typeface="Calibri"/>
              </a:rPr>
              <a:t>Decisiones tomadas a partir del análisis exploratorio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F3C7E"/>
                </a:solidFill>
                <a:latin typeface="Calibri"/>
              </a:rPr>
              <a:t>Limpieza y preprocesamiento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4864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90011"/>
                </a:solidFill>
                <a:latin typeface="Calibri"/>
              </a:rPr>
              <a:t>■  </a:t>
            </a:r>
            <a:r>
              <a:rPr sz="1200">
                <a:solidFill>
                  <a:srgbClr val="36454F"/>
                </a:solidFill>
                <a:latin typeface="Calibri"/>
              </a:rPr>
              <a:t>Edad &lt; 18 (n=7,539): excluidos. Prevalencia ~0.03 % → ruido clínico.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990011"/>
                </a:solidFill>
                <a:latin typeface="Calibri"/>
              </a:rPr>
              <a:t>■  </a:t>
            </a:r>
            <a:r>
              <a:rPr sz="1200">
                <a:solidFill>
                  <a:srgbClr val="36454F"/>
                </a:solidFill>
                <a:latin typeface="Calibri"/>
              </a:rPr>
              <a:t>Genero=Other (n=11): excluido. Cero infartos en todo el dataset.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990011"/>
                </a:solidFill>
                <a:latin typeface="Calibri"/>
              </a:rPr>
              <a:t>■  </a:t>
            </a:r>
            <a:r>
              <a:rPr sz="1200">
                <a:solidFill>
                  <a:srgbClr val="36454F"/>
                </a:solidFill>
                <a:latin typeface="Calibri"/>
              </a:rPr>
              <a:t>IMC nulos (3.4 %): imputados con mediana del train set.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990011"/>
                </a:solidFill>
                <a:latin typeface="Calibri"/>
              </a:rPr>
              <a:t>■  </a:t>
            </a:r>
            <a:r>
              <a:rPr sz="1200">
                <a:solidFill>
                  <a:srgbClr val="36454F"/>
                </a:solidFill>
                <a:latin typeface="Calibri"/>
              </a:rPr>
              <a:t>Flag_fumador nulos (30.6 %): mapeados a "Desconocido" (categoría válida, no imputable).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990011"/>
                </a:solidFill>
                <a:latin typeface="Calibri"/>
              </a:rPr>
              <a:t>■  </a:t>
            </a:r>
            <a:r>
              <a:rPr sz="1200">
                <a:solidFill>
                  <a:srgbClr val="36454F"/>
                </a:solidFill>
                <a:latin typeface="Calibri"/>
              </a:rPr>
              <a:t>Winsorización p1–p99 en Edad, IMC y Promedio_nivel_glucosa.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F3C7E"/>
                </a:solidFill>
                <a:latin typeface="Calibri"/>
              </a:rPr>
              <a:t>Top-10 features (consenso de 4 métodos)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A8A8A"/>
                </a:solidFill>
                <a:latin typeface="Calibri"/>
              </a:rPr>
              <a:t>Mann-Whitney · Point-Biserial · ANOVA · Mutual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Edad · Flag_problem_cardiaco · Promedio_nivel_glucosa · Estados_civil · Tipo_trabajo (Empresa_privada, Emprendedor) · Flag_hipertension · Genero · Flag_fumador (Nunca_fuma, antes_fumaba)</a:t>
            </a:r>
          </a:p>
        </p:txBody>
      </p:sp>
      <p:pic>
        <p:nvPicPr>
          <p:cNvPr id="10" name="Picture 9" descr="feature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5486400" cy="4572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Prevención de Infartos en Asegurados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58368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990011"/>
                </a:solidFill>
                <a:latin typeface="Calibri"/>
              </a:rPr>
              <a:t>4.  Modelos candidatos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A8A8A"/>
                </a:solidFill>
                <a:latin typeface="Calibri"/>
              </a:rPr>
              <a:t>Tres estrategias evaluadas con 10-fold StratifiedKFold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645920" cy="5029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463040"/>
            <a:ext cx="2743200" cy="5029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146304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Estrategia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463040"/>
            <a:ext cx="1828800" cy="5029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14630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Decisión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6596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94560" y="196596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37760" y="1965960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96596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F3C7E"/>
                </a:solidFill>
                <a:latin typeface="Calibri"/>
              </a:rPr>
              <a:t>LR_balanced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196596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class_weight="balanced"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196596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4F8A3E"/>
                </a:solidFill>
                <a:latin typeface="Calibri"/>
              </a:rPr>
              <a:t>SELECCIONADO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468880"/>
            <a:ext cx="1645920" cy="502920"/>
          </a:xfrm>
          <a:prstGeom prst="rect">
            <a:avLst/>
          </a:prstGeom>
          <a:solidFill>
            <a:srgbClr val="F5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94560" y="2468880"/>
            <a:ext cx="2743200" cy="502920"/>
          </a:xfrm>
          <a:prstGeom prst="rect">
            <a:avLst/>
          </a:prstGeom>
          <a:solidFill>
            <a:srgbClr val="F5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60" y="2468880"/>
            <a:ext cx="1828800" cy="502920"/>
          </a:xfrm>
          <a:prstGeom prst="rect">
            <a:avLst/>
          </a:prstGeom>
          <a:solidFill>
            <a:srgbClr val="F5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46888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F3C7E"/>
                </a:solidFill>
                <a:latin typeface="Calibri"/>
              </a:rPr>
              <a:t>RF_balanced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246888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class_weight + tuning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46888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F3C7E"/>
                </a:solidFill>
                <a:latin typeface="Calibri"/>
              </a:rPr>
              <a:t>Buen segundo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97180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94560" y="29718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7760" y="2971800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97180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F3C7E"/>
                </a:solidFill>
                <a:latin typeface="Calibri"/>
              </a:rPr>
              <a:t>GaussianNB_cal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297180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CalibratedClassifierCV (isotónico)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297180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85454"/>
                </a:solidFill>
                <a:latin typeface="Calibri"/>
              </a:rPr>
              <a:t>Falla thr=0.5</a:t>
            </a:r>
          </a:p>
        </p:txBody>
      </p:sp>
      <p:pic>
        <p:nvPicPr>
          <p:cNvPr id="29" name="Picture 28" descr="slide_cv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417320"/>
            <a:ext cx="4846320" cy="2286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F3C7E"/>
                </a:solidFill>
                <a:latin typeface="Calibri"/>
              </a:rPr>
              <a:t>Hallazgos clave del experimento</a:t>
            </a:r>
          </a:p>
        </p:txBody>
      </p:sp>
      <p:sp>
        <p:nvSpPr>
          <p:cNvPr id="31" name="Oval 30"/>
          <p:cNvSpPr/>
          <p:nvPr/>
        </p:nvSpPr>
        <p:spPr>
          <a:xfrm>
            <a:off x="525780" y="4183380"/>
            <a:ext cx="502920" cy="502920"/>
          </a:xfrm>
          <a:prstGeom prst="ellipse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5780" y="41833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11480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F3C7E"/>
                </a:solidFill>
                <a:latin typeface="Calibri"/>
              </a:rPr>
              <a:t>Sin SMOTE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4348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Se descartó SMOTE: distorsiona los priors y rompe la calibración (XGBoost+SMOTE caía a Recall 0.22 fuera del CV).</a:t>
            </a:r>
          </a:p>
        </p:txBody>
      </p:sp>
      <p:sp>
        <p:nvSpPr>
          <p:cNvPr id="35" name="Oval 34"/>
          <p:cNvSpPr/>
          <p:nvPr/>
        </p:nvSpPr>
        <p:spPr>
          <a:xfrm>
            <a:off x="525780" y="5052060"/>
            <a:ext cx="502920" cy="502920"/>
          </a:xfrm>
          <a:prstGeom prst="ellipse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5780" y="50520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498348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F3C7E"/>
                </a:solidFill>
                <a:latin typeface="Calibri"/>
              </a:rPr>
              <a:t>Tuning con scoring="recall"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53035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RandomizedSearchCV optimizó cada modelo por Recall. RF saltó de Recall 0.35 → 0.78 al ajustar max_depth y min_samples_leaf.</a:t>
            </a:r>
          </a:p>
        </p:txBody>
      </p:sp>
      <p:sp>
        <p:nvSpPr>
          <p:cNvPr id="39" name="Oval 38"/>
          <p:cNvSpPr/>
          <p:nvPr/>
        </p:nvSpPr>
        <p:spPr>
          <a:xfrm>
            <a:off x="525780" y="5920740"/>
            <a:ext cx="502920" cy="502920"/>
          </a:xfrm>
          <a:prstGeom prst="ellipse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5780" y="59207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85216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F3C7E"/>
                </a:solidFill>
                <a:latin typeface="Calibri"/>
              </a:rPr>
              <a:t>GaussianNB no califica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617220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Pese a la calibración isotónica, sus probabilidades quedan concentradas y solo activa a thr ~0.05, perdiendo Recall.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Prevención de Infartos en Asegurados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4415" y="658368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990011"/>
                </a:solidFill>
                <a:latin typeface="Calibri"/>
              </a:rPr>
              <a:t>5.  Criterio de selección y threshold operativo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A8A8A"/>
                </a:solidFill>
                <a:latin typeface="Calibri"/>
              </a:rPr>
              <a:t>Por qué no se eligió el modelo de mayor F1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287" y="137160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2287" y="1371600"/>
            <a:ext cx="3657600" cy="548640"/>
          </a:xfrm>
          <a:prstGeom prst="rect">
            <a:avLst/>
          </a:prstGeom>
          <a:solidFill>
            <a:srgbClr val="E85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6607" y="13716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Máximo F1 puro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89807" y="137160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607" y="2148840"/>
            <a:ext cx="310896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thr = 0.68 · F1 = 0.146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Recall = 0.55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→ pierde 70 de 156 infartos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047" y="137160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67047" y="1371600"/>
            <a:ext cx="3657600" cy="54864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1367" y="13716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Máximo Recall sin piso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4567" y="137160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1367" y="2148840"/>
            <a:ext cx="310896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thr → 0 · Recall ≈ 1.00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Alerta al 90 % de pacientes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→ inútil operativamente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1807" y="137160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1807" y="1371600"/>
            <a:ext cx="3657600" cy="548640"/>
          </a:xfrm>
          <a:prstGeom prst="rect">
            <a:avLst/>
          </a:prstGeom>
          <a:solidFill>
            <a:srgbClr val="4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6127" y="13716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Max Recall con F1 ≥ 0.10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79327" y="137160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6127" y="2148840"/>
            <a:ext cx="310896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thr = 0.465 · Recall = 0.81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F1 = 0.104 (cumple piso)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→ ELEGIDO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40480"/>
            <a:ext cx="11064240" cy="246888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023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Por qué Recall pesa más que F1 en salud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4805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F5EEEC"/>
                </a:solidFill>
                <a:latin typeface="Calibri"/>
              </a:rPr>
              <a:t>En prevención cardiovascular, un falso negativo cuesta mucho más que un falso positivo.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83480"/>
            <a:ext cx="6583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5EEEC"/>
                </a:solidFill>
                <a:latin typeface="Calibri"/>
              </a:rPr>
              <a:t>· FN: paciente con riesgo real no recibe seguimiento → evento cardiovascular → hospitalización + indemnización.</a:t>
            </a:r>
          </a:p>
          <a:p>
            <a:pPr algn="l"/>
            <a:r>
              <a:rPr sz="1150" b="0" i="0">
                <a:solidFill>
                  <a:srgbClr val="F5EEEC"/>
                </a:solidFill>
                <a:latin typeface="Calibri"/>
              </a:rPr>
              <a:t>· FP: paciente sano marcado para chequeo → coste de una consulta médica adicional.</a:t>
            </a:r>
          </a:p>
          <a:p>
            <a:pPr algn="l"/>
            <a:r>
              <a:rPr sz="1150" b="0" i="0">
                <a:solidFill>
                  <a:srgbClr val="F5EEEC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F5EEEC"/>
                </a:solidFill>
                <a:latin typeface="Calibri"/>
              </a:rPr>
              <a:t>El F1 ≥ 0.10 evita el modelo trivial "alerta a todos"; el resto del trade-off se entrega al Recall.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4434840"/>
            <a:ext cx="3657600" cy="1783080"/>
          </a:xfrm>
          <a:prstGeom prst="rect">
            <a:avLst/>
          </a:prstGeom>
          <a:solidFill>
            <a:srgbClr val="1A2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45720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E85454"/>
                </a:solidFill>
                <a:latin typeface="Calibri"/>
              </a:rPr>
              <a:t>Orden de magnitud del coste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9377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1  FN  ≈  20–50  FP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5486400"/>
            <a:ext cx="3657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1">
                <a:solidFill>
                  <a:srgbClr val="F5EEEC"/>
                </a:solidFill>
                <a:latin typeface="Calibri"/>
              </a:rPr>
              <a:t>Hospitalización + cirugía + indemnización frente a una consulta preventiva.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Prevención de Infartos en Asegurados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58368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990011"/>
                </a:solidFill>
                <a:latin typeface="Calibri"/>
              </a:rPr>
              <a:t>6.  Resultados — LR_balanced @ thr = 0.465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A8A8A"/>
                </a:solidFill>
                <a:latin typeface="Calibri"/>
              </a:rPr>
              <a:t>Evaluado en test set de 7,170 pacientes (156 positivos)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3832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9728" cy="777240"/>
          </a:xfrm>
          <a:prstGeom prst="rect">
            <a:avLst/>
          </a:prstGeom>
          <a:solidFill>
            <a:srgbClr val="4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8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F3C7E"/>
                </a:solidFill>
                <a:latin typeface="Georgia"/>
              </a:rPr>
              <a:t>0.808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4173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F8A3E"/>
                </a:solidFill>
                <a:latin typeface="Calibri"/>
              </a:rPr>
              <a:t>≥ 0.70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664208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capta 128 / 156 infartos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1371600"/>
            <a:ext cx="33832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80" y="1371600"/>
            <a:ext cx="109728" cy="777240"/>
          </a:xfrm>
          <a:prstGeom prst="rect">
            <a:avLst/>
          </a:prstGeom>
          <a:solidFill>
            <a:srgbClr val="4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4173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8A8A"/>
                </a:solidFill>
                <a:latin typeface="Calibri"/>
              </a:rPr>
              <a:t>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6459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F3C7E"/>
                </a:solidFill>
                <a:latin typeface="Georgia"/>
              </a:rPr>
              <a:t>0.104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14173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F8A3E"/>
                </a:solidFill>
                <a:latin typeface="Calibri"/>
              </a:rPr>
              <a:t>≥ 0.10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1664208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~2.5x sobre baseline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286000"/>
            <a:ext cx="33832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286000"/>
            <a:ext cx="109728" cy="777240"/>
          </a:xfrm>
          <a:prstGeom prst="rect">
            <a:avLst/>
          </a:prstGeom>
          <a:solidFill>
            <a:srgbClr val="4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3317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8A8A"/>
                </a:solidFill>
                <a:latin typeface="Calibri"/>
              </a:rPr>
              <a:t>PR-AUC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5603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F3C7E"/>
                </a:solidFill>
                <a:latin typeface="Georgia"/>
              </a:rPr>
              <a:t>0.090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23317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F8A3E"/>
                </a:solidFill>
                <a:latin typeface="Calibri"/>
              </a:rPr>
              <a:t>base 0.022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2578608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4x sobre random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69080" y="2286000"/>
            <a:ext cx="33832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69080" y="2286000"/>
            <a:ext cx="109728" cy="777240"/>
          </a:xfrm>
          <a:prstGeom prst="rect">
            <a:avLst/>
          </a:prstGeom>
          <a:solidFill>
            <a:srgbClr val="4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23317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8A8A"/>
                </a:solidFill>
                <a:latin typeface="Calibri"/>
              </a:rPr>
              <a:t>MCC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5603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F3C7E"/>
                </a:solidFill>
                <a:latin typeface="Georgia"/>
              </a:rPr>
              <a:t>0.158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23317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F8A3E"/>
                </a:solidFill>
                <a:latin typeface="Calibri"/>
              </a:rPr>
              <a:t>&gt;0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2578608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correlación significativa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200400"/>
            <a:ext cx="33832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200400"/>
            <a:ext cx="109728" cy="777240"/>
          </a:xfrm>
          <a:prstGeom prst="rect">
            <a:avLst/>
          </a:prstGeom>
          <a:solidFill>
            <a:srgbClr val="4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2461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8A8A"/>
                </a:solidFill>
                <a:latin typeface="Calibri"/>
              </a:rPr>
              <a:t>Bal. Accuracy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4747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F3C7E"/>
                </a:solidFill>
                <a:latin typeface="Georgia"/>
              </a:rPr>
              <a:t>0.752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32461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F8A3E"/>
                </a:solidFill>
                <a:latin typeface="Calibri"/>
              </a:rPr>
              <a:t>&gt;0.5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3493008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sensibilidad + especificidad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69080" y="3200400"/>
            <a:ext cx="33832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69080" y="3200400"/>
            <a:ext cx="109728" cy="77724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0" y="32461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8A8A"/>
                </a:solidFill>
                <a:latin typeface="Calibri"/>
              </a:rPr>
              <a:t>Precision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34747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F3C7E"/>
                </a:solidFill>
                <a:latin typeface="Georgia"/>
              </a:rPr>
              <a:t>0.056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40" y="32461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0A500"/>
                </a:solidFill>
                <a:latin typeface="Calibri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3493008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~18 FP por TP — esperado</a:t>
            </a:r>
          </a:p>
        </p:txBody>
      </p:sp>
      <p:pic>
        <p:nvPicPr>
          <p:cNvPr id="41" name="Picture 40" descr="slide_confusion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417320"/>
            <a:ext cx="4663440" cy="310896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269480" y="457200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8A8A8A"/>
                </a:solidFill>
                <a:latin typeface="Calibri"/>
              </a:rPr>
              <a:t>Matrices de confusión - thr=0.5 vs thr operativo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532120"/>
            <a:ext cx="11064240" cy="777240"/>
          </a:xfrm>
          <a:prstGeom prst="rect">
            <a:avLst/>
          </a:prstGeom>
          <a:solidFill>
            <a:srgbClr val="F5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60527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990011"/>
                </a:solidFill>
                <a:latin typeface="Calibri"/>
              </a:rPr>
              <a:t>Cumple ambos gates de calidad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89788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Recall ≥ 0.70 ✓   ·   F1 ≥ 0.10 ✓   ·   modelo seleccionado automáticamente por el pipeline y promovido a producción.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Prevención de Infartos en Asegurados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94415" y="658368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990011"/>
                </a:solidFill>
                <a:latin typeface="Calibri"/>
              </a:rPr>
              <a:t>7.  Estrategia de uso del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A8A8A"/>
                </a:solidFill>
                <a:latin typeface="Calibri"/>
              </a:rPr>
              <a:t>Decisión clínica derivada del threshold operativo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403707" y="1371600"/>
            <a:ext cx="3703320" cy="4526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3707" y="1371600"/>
            <a:ext cx="3703320" cy="914400"/>
          </a:xfrm>
          <a:prstGeom prst="rect">
            <a:avLst/>
          </a:prstGeom>
          <a:solidFill>
            <a:srgbClr val="E85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3707" y="1508760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ALTO_RIESGO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707" y="1874520"/>
            <a:ext cx="3703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Calibri"/>
              </a:rPr>
              <a:t>prob ≥ 0.465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027" y="24688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F3C7E"/>
                </a:solidFill>
                <a:latin typeface="Calibri"/>
              </a:rPr>
              <a:t>Acciones recomendadas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027" y="2880360"/>
            <a:ext cx="31546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>
                <a:solidFill>
                  <a:srgbClr val="E85454"/>
                </a:solidFill>
                <a:latin typeface="Calibri"/>
              </a:rPr>
              <a:t>■  </a:t>
            </a:r>
            <a:r>
              <a:rPr sz="1150">
                <a:solidFill>
                  <a:srgbClr val="36454F"/>
                </a:solidFill>
                <a:latin typeface="Calibri"/>
              </a:rPr>
              <a:t>Contacto proactivo del equipo médico de la aseguradora.</a:t>
            </a:r>
          </a:p>
          <a:p>
            <a:pPr algn="l">
              <a:spcAft>
                <a:spcPts val="800"/>
              </a:spcAft>
            </a:pPr>
            <a:r>
              <a:rPr sz="1150" b="1">
                <a:solidFill>
                  <a:srgbClr val="E85454"/>
                </a:solidFill>
                <a:latin typeface="Calibri"/>
              </a:rPr>
              <a:t>■  </a:t>
            </a:r>
            <a:r>
              <a:rPr sz="1150">
                <a:solidFill>
                  <a:srgbClr val="36454F"/>
                </a:solidFill>
                <a:latin typeface="Calibri"/>
              </a:rPr>
              <a:t>Chequeo cardiovascular completo (ECG, perfil lipídico).</a:t>
            </a:r>
          </a:p>
          <a:p>
            <a:pPr algn="l">
              <a:spcAft>
                <a:spcPts val="800"/>
              </a:spcAft>
            </a:pPr>
            <a:r>
              <a:rPr sz="1150" b="1">
                <a:solidFill>
                  <a:srgbClr val="E85454"/>
                </a:solidFill>
                <a:latin typeface="Calibri"/>
              </a:rPr>
              <a:t>■  </a:t>
            </a:r>
            <a:r>
              <a:rPr sz="1150">
                <a:solidFill>
                  <a:srgbClr val="36454F"/>
                </a:solidFill>
                <a:latin typeface="Calibri"/>
              </a:rPr>
              <a:t>Plan de prevención: control de tensión, abandono del tabaco, seguimiento mensual.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3707" y="4892040"/>
            <a:ext cx="3703320" cy="1005840"/>
          </a:xfrm>
          <a:prstGeom prst="rect">
            <a:avLst/>
          </a:prstGeom>
          <a:solidFill>
            <a:srgbClr val="F5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027" y="49834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E85454"/>
                </a:solidFill>
                <a:latin typeface="Georgia"/>
              </a:rPr>
              <a:t>~33 % de la cartera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027" y="54406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1">
                <a:solidFill>
                  <a:srgbClr val="36454F"/>
                </a:solidFill>
                <a:latin typeface="Calibri"/>
              </a:rPr>
              <a:t>Mayor inversión preventiva — recupera siniestros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4187" y="1371600"/>
            <a:ext cx="3703320" cy="4526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4187" y="1371600"/>
            <a:ext cx="3703320" cy="9144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4187" y="1508760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REVISAR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44187" y="1874520"/>
            <a:ext cx="3703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Calibri"/>
              </a:rPr>
              <a:t>0.200 ≤ prob &lt; 0.465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8507" y="24688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F3C7E"/>
                </a:solidFill>
                <a:latin typeface="Calibri"/>
              </a:rPr>
              <a:t>Acciones recomendadas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8507" y="2880360"/>
            <a:ext cx="31546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>
                <a:solidFill>
                  <a:srgbClr val="F0A500"/>
                </a:solidFill>
                <a:latin typeface="Calibri"/>
              </a:rPr>
              <a:t>■  </a:t>
            </a:r>
            <a:r>
              <a:rPr sz="1150">
                <a:solidFill>
                  <a:srgbClr val="36454F"/>
                </a:solidFill>
                <a:latin typeface="Calibri"/>
              </a:rPr>
              <a:t>Inclusión en campaña de salud preventiva por correo o teléfono.</a:t>
            </a:r>
          </a:p>
          <a:p>
            <a:pPr algn="l">
              <a:spcAft>
                <a:spcPts val="800"/>
              </a:spcAft>
            </a:pPr>
            <a:r>
              <a:rPr sz="1150" b="1">
                <a:solidFill>
                  <a:srgbClr val="F0A500"/>
                </a:solidFill>
                <a:latin typeface="Calibri"/>
              </a:rPr>
              <a:t>■  </a:t>
            </a:r>
            <a:r>
              <a:rPr sz="1150">
                <a:solidFill>
                  <a:srgbClr val="36454F"/>
                </a:solidFill>
                <a:latin typeface="Calibri"/>
              </a:rPr>
              <a:t>Recomendación de chequeo anual gratuito.</a:t>
            </a:r>
          </a:p>
          <a:p>
            <a:pPr algn="l">
              <a:spcAft>
                <a:spcPts val="800"/>
              </a:spcAft>
            </a:pPr>
            <a:r>
              <a:rPr sz="1150" b="1">
                <a:solidFill>
                  <a:srgbClr val="F0A500"/>
                </a:solidFill>
                <a:latin typeface="Calibri"/>
              </a:rPr>
              <a:t>■  </a:t>
            </a:r>
            <a:r>
              <a:rPr sz="1150">
                <a:solidFill>
                  <a:srgbClr val="36454F"/>
                </a:solidFill>
                <a:latin typeface="Calibri"/>
              </a:rPr>
              <a:t>Re-evaluación al año con nuevos datos.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44187" y="4892040"/>
            <a:ext cx="3703320" cy="1005840"/>
          </a:xfrm>
          <a:prstGeom prst="rect">
            <a:avLst/>
          </a:prstGeom>
          <a:solidFill>
            <a:srgbClr val="F5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8507" y="49834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0A500"/>
                </a:solidFill>
                <a:latin typeface="Georgia"/>
              </a:rPr>
              <a:t>~10 % de la cartera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8507" y="54406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1">
                <a:solidFill>
                  <a:srgbClr val="36454F"/>
                </a:solidFill>
                <a:latin typeface="Calibri"/>
              </a:rPr>
              <a:t>Intervención de bajo coste, alta cobertura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84667" y="1371600"/>
            <a:ext cx="3703320" cy="4526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84667" y="1371600"/>
            <a:ext cx="3703320" cy="914400"/>
          </a:xfrm>
          <a:prstGeom prst="rect">
            <a:avLst/>
          </a:prstGeom>
          <a:solidFill>
            <a:srgbClr val="4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84667" y="1508760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BAJO_RIESGO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4667" y="1874520"/>
            <a:ext cx="3703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Calibri"/>
              </a:rPr>
              <a:t>prob &lt; 0.200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8987" y="24688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F3C7E"/>
                </a:solidFill>
                <a:latin typeface="Calibri"/>
              </a:rPr>
              <a:t>Acciones recomendadas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8987" y="2880360"/>
            <a:ext cx="31546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>
                <a:solidFill>
                  <a:srgbClr val="4F8A3E"/>
                </a:solidFill>
                <a:latin typeface="Calibri"/>
              </a:rPr>
              <a:t>■  </a:t>
            </a:r>
            <a:r>
              <a:rPr sz="1150">
                <a:solidFill>
                  <a:srgbClr val="36454F"/>
                </a:solidFill>
                <a:latin typeface="Calibri"/>
              </a:rPr>
              <a:t>Comunicación estándar de hábitos saludables.</a:t>
            </a:r>
          </a:p>
          <a:p>
            <a:pPr algn="l">
              <a:spcAft>
                <a:spcPts val="800"/>
              </a:spcAft>
            </a:pPr>
            <a:r>
              <a:rPr sz="1150" b="1">
                <a:solidFill>
                  <a:srgbClr val="4F8A3E"/>
                </a:solidFill>
                <a:latin typeface="Calibri"/>
              </a:rPr>
              <a:t>■  </a:t>
            </a:r>
            <a:r>
              <a:rPr sz="1150">
                <a:solidFill>
                  <a:srgbClr val="36454F"/>
                </a:solidFill>
                <a:latin typeface="Calibri"/>
              </a:rPr>
              <a:t>Sin coste operativo adicional.</a:t>
            </a:r>
          </a:p>
          <a:p>
            <a:pPr algn="l">
              <a:spcAft>
                <a:spcPts val="800"/>
              </a:spcAft>
            </a:pPr>
            <a:r>
              <a:rPr sz="1150" b="1">
                <a:solidFill>
                  <a:srgbClr val="4F8A3E"/>
                </a:solidFill>
                <a:latin typeface="Calibri"/>
              </a:rPr>
              <a:t>■  </a:t>
            </a:r>
            <a:r>
              <a:rPr sz="1150">
                <a:solidFill>
                  <a:srgbClr val="36454F"/>
                </a:solidFill>
                <a:latin typeface="Calibri"/>
              </a:rPr>
              <a:t>Monitoreo pasivo en la siguiente cohorte anual.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84667" y="4892040"/>
            <a:ext cx="3703320" cy="1005840"/>
          </a:xfrm>
          <a:prstGeom prst="rect">
            <a:avLst/>
          </a:prstGeom>
          <a:solidFill>
            <a:srgbClr val="F5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8987" y="49834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4F8A3E"/>
                </a:solidFill>
                <a:latin typeface="Georgia"/>
              </a:rPr>
              <a:t>~57 % de la cartera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8987" y="54406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1">
                <a:solidFill>
                  <a:srgbClr val="36454F"/>
                </a:solidFill>
                <a:latin typeface="Calibri"/>
              </a:rPr>
              <a:t>Coste cero — pipeline solo monitorea drift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080760"/>
            <a:ext cx="11064240" cy="41148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Calibri"/>
              </a:rPr>
              <a:t>Impacto esperado: con ~33 % de pacientes en ALTO o REVISAR, capturamos 81 % de los infartos a un coste de seguimiento manejable.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Prevención de Infartos en Asegurados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58368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990011"/>
                </a:solidFill>
                <a:latin typeface="Calibri"/>
              </a:rPr>
              <a:t>8.  Arquitectura MLOps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A8A8A"/>
                </a:solidFill>
                <a:latin typeface="Calibri"/>
              </a:rPr>
              <a:t>Del notebook al servicio en producción con CI/CD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514600" cy="12801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Ingesta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5EEEC"/>
                </a:solidFill>
                <a:latin typeface="Calibri"/>
              </a:rPr>
              <a:t>data_loader</a:t>
            </a:r>
          </a:p>
          <a:p>
            <a:pPr algn="ctr"/>
            <a:r>
              <a:rPr sz="1100" b="0" i="0">
                <a:solidFill>
                  <a:srgbClr val="F5EEEC"/>
                </a:solidFill>
                <a:latin typeface="Calibri"/>
              </a:rPr>
              <a:t>preprocesar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86100" y="1965960"/>
            <a:ext cx="182880" cy="274320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463040"/>
            <a:ext cx="2514600" cy="12801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64592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10312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5EEEC"/>
                </a:solidFill>
                <a:latin typeface="Calibri"/>
              </a:rPr>
              <a:t>codificar</a:t>
            </a:r>
          </a:p>
          <a:p>
            <a:pPr algn="ctr"/>
            <a:r>
              <a:rPr sz="1100" b="0" i="0">
                <a:solidFill>
                  <a:srgbClr val="F5EEEC"/>
                </a:solidFill>
                <a:latin typeface="Calibri"/>
              </a:rPr>
              <a:t>SelectKBest (k=10)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29300" y="1965960"/>
            <a:ext cx="182880" cy="274320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463040"/>
            <a:ext cx="2514600" cy="12801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2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Train + MLflow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10312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5EEEC"/>
                </a:solidFill>
                <a:latin typeface="Calibri"/>
              </a:rPr>
              <a:t>LR + RF</a:t>
            </a:r>
          </a:p>
          <a:p>
            <a:pPr algn="ctr"/>
            <a:r>
              <a:rPr sz="1100" b="0" i="0">
                <a:solidFill>
                  <a:srgbClr val="F5EEEC"/>
                </a:solidFill>
                <a:latin typeface="Calibri"/>
              </a:rPr>
              <a:t>CV 10-fold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572500" y="1965960"/>
            <a:ext cx="182880" cy="274320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78240" y="1463040"/>
            <a:ext cx="2514600" cy="12801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164592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Quality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10312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5EEEC"/>
                </a:solidFill>
                <a:latin typeface="Calibri"/>
              </a:rPr>
              <a:t>Recall ≥ 0.70</a:t>
            </a:r>
          </a:p>
          <a:p>
            <a:pPr algn="ctr"/>
            <a:r>
              <a:rPr sz="1100" b="0" i="0">
                <a:solidFill>
                  <a:srgbClr val="F5EEEC"/>
                </a:solidFill>
                <a:latin typeface="Calibri"/>
              </a:rPr>
              <a:t>F1 ≥ 0.10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F3C7E"/>
                </a:solidFill>
                <a:latin typeface="Calibri"/>
              </a:rPr>
              <a:t>Servicios desplegados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6616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990011"/>
                </a:solidFill>
                <a:latin typeface="Calibri"/>
              </a:rPr>
              <a:t>■  </a:t>
            </a:r>
            <a:r>
              <a:rPr sz="1200">
                <a:solidFill>
                  <a:srgbClr val="36454F"/>
                </a:solidFill>
                <a:latin typeface="Calibri"/>
              </a:rPr>
              <a:t>API FastAPI en Docker — endpoints /health y /predecir.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990011"/>
                </a:solidFill>
                <a:latin typeface="Calibri"/>
              </a:rPr>
              <a:t>■  </a:t>
            </a:r>
            <a:r>
              <a:rPr sz="1200">
                <a:solidFill>
                  <a:srgbClr val="36454F"/>
                </a:solidFill>
                <a:latin typeface="Calibri"/>
              </a:rPr>
              <a:t>MLflow tracking — métricas, params y modelos versionados.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990011"/>
                </a:solidFill>
                <a:latin typeface="Calibri"/>
              </a:rPr>
              <a:t>■  </a:t>
            </a:r>
            <a:r>
              <a:rPr sz="1200">
                <a:solidFill>
                  <a:srgbClr val="36454F"/>
                </a:solidFill>
                <a:latin typeface="Calibri"/>
              </a:rPr>
              <a:t>docker-compose preprod — 3 servicios (MLflow, trainer, API).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990011"/>
                </a:solidFill>
                <a:latin typeface="Calibri"/>
              </a:rPr>
              <a:t>■  </a:t>
            </a:r>
            <a:r>
              <a:rPr sz="1200">
                <a:solidFill>
                  <a:srgbClr val="36454F"/>
                </a:solidFill>
                <a:latin typeface="Calibri"/>
              </a:rPr>
              <a:t>CI/CD GitHub Actions — lint, tests, train, quality gate, docker build.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990011"/>
                </a:solidFill>
                <a:latin typeface="Calibri"/>
              </a:rPr>
              <a:t>■  </a:t>
            </a:r>
            <a:r>
              <a:rPr sz="1200">
                <a:solidFill>
                  <a:srgbClr val="36454F"/>
                </a:solidFill>
                <a:latin typeface="Calibri"/>
              </a:rPr>
              <a:t>Monitoreo de drift — Evidently AI, cron semanal (lunes 8am UTC).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004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F3C7E"/>
                </a:solidFill>
                <a:latin typeface="Calibri"/>
              </a:rPr>
              <a:t>Calidad y cobertura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566160"/>
            <a:ext cx="52120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990011"/>
                </a:solidFill>
                <a:latin typeface="Calibri"/>
              </a:rPr>
              <a:t>■  </a:t>
            </a:r>
            <a:r>
              <a:rPr sz="1200">
                <a:solidFill>
                  <a:srgbClr val="36454F"/>
                </a:solidFill>
                <a:latin typeface="Calibri"/>
              </a:rPr>
              <a:t>32 tests unitarios (preprocessing, features, modelo, API).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990011"/>
                </a:solidFill>
                <a:latin typeface="Calibri"/>
              </a:rPr>
              <a:t>■  </a:t>
            </a:r>
            <a:r>
              <a:rPr sz="1200">
                <a:solidFill>
                  <a:srgbClr val="36454F"/>
                </a:solidFill>
                <a:latin typeface="Calibri"/>
              </a:rPr>
              <a:t>Smoke tests contra servicios reales (httpx + 3 servicios).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990011"/>
                </a:solidFill>
                <a:latin typeface="Calibri"/>
              </a:rPr>
              <a:t>■  </a:t>
            </a:r>
            <a:r>
              <a:rPr sz="1200">
                <a:solidFill>
                  <a:srgbClr val="36454F"/>
                </a:solidFill>
                <a:latin typeface="Calibri"/>
              </a:rPr>
              <a:t>Quality gate doble: Recall ≥ 0.70 Y F1 ≥ 0.10.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990011"/>
                </a:solidFill>
                <a:latin typeface="Calibri"/>
              </a:rPr>
              <a:t>■  </a:t>
            </a:r>
            <a:r>
              <a:rPr sz="1200">
                <a:solidFill>
                  <a:srgbClr val="36454F"/>
                </a:solidFill>
                <a:latin typeface="Calibri"/>
              </a:rPr>
              <a:t>Threshold operativo persistido y consumido por la API.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990011"/>
                </a:solidFill>
                <a:latin typeface="Calibri"/>
              </a:rPr>
              <a:t>■  </a:t>
            </a:r>
            <a:r>
              <a:rPr sz="1200">
                <a:solidFill>
                  <a:srgbClr val="36454F"/>
                </a:solidFill>
                <a:latin typeface="Calibri"/>
              </a:rPr>
              <a:t>flake8 sin issues; coverage &gt; 80 %.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Prevención de Infartos en Asegurados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58368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9.  Conclusiones y siguientes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F5EEEC"/>
                </a:solidFill>
                <a:latin typeface="Calibri"/>
              </a:rPr>
              <a:t>Lecciones aprendidas y roadmap para evolucionar el modelo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solidFill>
            <a:srgbClr val="1A2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85454"/>
                </a:solidFill>
                <a:latin typeface="Calibri"/>
              </a:rPr>
              <a:t>Conclusiones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50292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300" b="1">
                <a:solidFill>
                  <a:srgbClr val="E85454"/>
                </a:solidFill>
                <a:latin typeface="Calibri"/>
              </a:rPr>
              <a:t>■  </a:t>
            </a:r>
            <a:r>
              <a:rPr sz="1300">
                <a:solidFill>
                  <a:srgbClr val="FFFFFF"/>
                </a:solidFill>
                <a:latin typeface="Calibri"/>
              </a:rPr>
              <a:t>LR_balanced con threshold 0.465 detecta 81 % de los infartos cumpliendo el piso de F1.</a:t>
            </a:r>
          </a:p>
          <a:p>
            <a:pPr algn="l">
              <a:spcAft>
                <a:spcPts val="1400"/>
              </a:spcAft>
            </a:pPr>
            <a:r>
              <a:rPr sz="1300" b="1">
                <a:solidFill>
                  <a:srgbClr val="E85454"/>
                </a:solidFill>
                <a:latin typeface="Calibri"/>
              </a:rPr>
              <a:t>■  </a:t>
            </a:r>
            <a:r>
              <a:rPr sz="1300">
                <a:solidFill>
                  <a:srgbClr val="FFFFFF"/>
                </a:solidFill>
                <a:latin typeface="Calibri"/>
              </a:rPr>
              <a:t>Recall fue la métrica correcta: el coste clínico de un FN supera al de un FP.</a:t>
            </a:r>
          </a:p>
          <a:p>
            <a:pPr algn="l">
              <a:spcAft>
                <a:spcPts val="1400"/>
              </a:spcAft>
            </a:pPr>
            <a:r>
              <a:rPr sz="1300" b="1">
                <a:solidFill>
                  <a:srgbClr val="E85454"/>
                </a:solidFill>
                <a:latin typeface="Calibri"/>
              </a:rPr>
              <a:t>■  </a:t>
            </a:r>
            <a:r>
              <a:rPr sz="1300">
                <a:solidFill>
                  <a:srgbClr val="FFFFFF"/>
                </a:solidFill>
                <a:latin typeface="Calibri"/>
              </a:rPr>
              <a:t>El desbalance (2.18 %) limita el F1 absoluto — el modelo está 4× sobre el baseline en PR-AUC.</a:t>
            </a:r>
          </a:p>
          <a:p>
            <a:pPr algn="l">
              <a:spcAft>
                <a:spcPts val="1400"/>
              </a:spcAft>
            </a:pPr>
            <a:r>
              <a:rPr sz="1300" b="1">
                <a:solidFill>
                  <a:srgbClr val="E85454"/>
                </a:solidFill>
                <a:latin typeface="Calibri"/>
              </a:rPr>
              <a:t>■  </a:t>
            </a:r>
            <a:r>
              <a:rPr sz="1300">
                <a:solidFill>
                  <a:srgbClr val="FFFFFF"/>
                </a:solidFill>
                <a:latin typeface="Calibri"/>
              </a:rPr>
              <a:t>SMOTE fue descartado por distorsionar priors; class_weight bastó.</a:t>
            </a:r>
          </a:p>
          <a:p>
            <a:pPr algn="l">
              <a:spcAft>
                <a:spcPts val="1400"/>
              </a:spcAft>
            </a:pPr>
            <a:r>
              <a:rPr sz="1300" b="1">
                <a:solidFill>
                  <a:srgbClr val="E85454"/>
                </a:solidFill>
                <a:latin typeface="Calibri"/>
              </a:rPr>
              <a:t>■  </a:t>
            </a:r>
            <a:r>
              <a:rPr sz="1300">
                <a:solidFill>
                  <a:srgbClr val="FFFFFF"/>
                </a:solidFill>
                <a:latin typeface="Calibri"/>
              </a:rPr>
              <a:t>El pipeline es reproducible: make train ejecuta todo en ~12 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554480"/>
            <a:ext cx="5486400" cy="4572000"/>
          </a:xfrm>
          <a:prstGeom prst="rect">
            <a:avLst/>
          </a:prstGeom>
          <a:solidFill>
            <a:srgbClr val="1A2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91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0A500"/>
                </a:solidFill>
                <a:latin typeface="Calibri"/>
              </a:rPr>
              <a:t>Próximos pasos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48840"/>
            <a:ext cx="50292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300" b="1">
                <a:solidFill>
                  <a:srgbClr val="F0A500"/>
                </a:solidFill>
                <a:latin typeface="Calibri"/>
              </a:rPr>
              <a:t>■  </a:t>
            </a:r>
            <a:r>
              <a:rPr sz="1300">
                <a:solidFill>
                  <a:srgbClr val="FFFFFF"/>
                </a:solidFill>
                <a:latin typeface="Calibri"/>
              </a:rPr>
              <a:t>Enriquecer features: colesterol, historial familiar, ECG, medicación — debería subir PR-AUC y F1.</a:t>
            </a:r>
          </a:p>
          <a:p>
            <a:pPr algn="l">
              <a:spcAft>
                <a:spcPts val="1400"/>
              </a:spcAft>
            </a:pPr>
            <a:r>
              <a:rPr sz="1300" b="1">
                <a:solidFill>
                  <a:srgbClr val="F0A500"/>
                </a:solidFill>
                <a:latin typeface="Calibri"/>
              </a:rPr>
              <a:t>■  </a:t>
            </a:r>
            <a:r>
              <a:rPr sz="1300">
                <a:solidFill>
                  <a:srgbClr val="FFFFFF"/>
                </a:solidFill>
                <a:latin typeface="Calibri"/>
              </a:rPr>
              <a:t>Re-entrenar trimestralmente con lotes nuevos; usar monitoreo de drift para disparar reentrenamientos.</a:t>
            </a:r>
          </a:p>
          <a:p>
            <a:pPr algn="l">
              <a:spcAft>
                <a:spcPts val="1400"/>
              </a:spcAft>
            </a:pPr>
            <a:r>
              <a:rPr sz="1300" b="1">
                <a:solidFill>
                  <a:srgbClr val="F0A500"/>
                </a:solidFill>
                <a:latin typeface="Calibri"/>
              </a:rPr>
              <a:t>■  </a:t>
            </a:r>
            <a:r>
              <a:rPr sz="1300">
                <a:solidFill>
                  <a:srgbClr val="FFFFFF"/>
                </a:solidFill>
                <a:latin typeface="Calibri"/>
              </a:rPr>
              <a:t>Calibración de probabilidades en producción (Platt) para que el threshold mantenga su significado en el tiempo.</a:t>
            </a:r>
          </a:p>
          <a:p>
            <a:pPr algn="l">
              <a:spcAft>
                <a:spcPts val="1400"/>
              </a:spcAft>
            </a:pPr>
            <a:r>
              <a:rPr sz="1300" b="1">
                <a:solidFill>
                  <a:srgbClr val="F0A500"/>
                </a:solidFill>
                <a:latin typeface="Calibri"/>
              </a:rPr>
              <a:t>■  </a:t>
            </a:r>
            <a:r>
              <a:rPr sz="1300">
                <a:solidFill>
                  <a:srgbClr val="FFFFFF"/>
                </a:solidFill>
                <a:latin typeface="Calibri"/>
              </a:rPr>
              <a:t>A/B test del flujo "ALTO_RIESGO → contacto proactivo" vs control para medir reducción real de siniestros.</a:t>
            </a:r>
          </a:p>
          <a:p>
            <a:pPr algn="l">
              <a:spcAft>
                <a:spcPts val="1400"/>
              </a:spcAft>
            </a:pPr>
            <a:r>
              <a:rPr sz="1300" b="1">
                <a:solidFill>
                  <a:srgbClr val="F0A500"/>
                </a:solidFill>
                <a:latin typeface="Calibri"/>
              </a:rPr>
              <a:t>■  </a:t>
            </a:r>
            <a:r>
              <a:rPr sz="1300">
                <a:solidFill>
                  <a:srgbClr val="FFFFFF"/>
                </a:solidFill>
                <a:latin typeface="Calibri"/>
              </a:rPr>
              <a:t>Explicabilidad: SHAP por paciente en la respuesta de la API.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1">
                <a:solidFill>
                  <a:srgbClr val="FFFFFF"/>
                </a:solidFill>
                <a:latin typeface="Calibri"/>
              </a:rPr>
              <a:t>Gracias.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Prevención de Infartos en Asegurados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58368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