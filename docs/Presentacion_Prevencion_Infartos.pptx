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BA04C2-1A24-4552-A8CA-F01CAEDD17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33F797-22A1-4CAE-B25D-FB323877AE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E1BE54-EBF4-4AE9-86F0-CBB4A40EE1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5A21DA-5432-489F-92F5-4DF8B8676C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517FE8-2921-4051-BCE0-C1BC5E3BCC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5155F7-CAD1-4BC6-8E26-0513B78BFF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D1676E-8A6E-4067-95C8-9B2F5907BA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70F642-D806-45C1-81EB-424D4832FA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2D9C1D-92AF-4687-9D32-98F593A56E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198A22-3D62-4CB7-BCB3-398C132A78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A44397-D480-47E8-9F05-7510F2437C7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s-MX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s-MX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CCE9A5-862D-4169-A3E7-9B1920A1285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s-MX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s-MX" sz="1400" spc="-1" strike="noStrike">
                <a:latin typeface="Times New Roman"/>
              </a:rPr>
              <a:t>&lt;pie de página&gt;</a:t>
            </a:r>
            <a:endParaRPr b="0" lang="es-MX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CB8E85-F34A-44CF-9C3F-720F72A43EB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&lt;número&gt;</a:t>
            </a:fld>
            <a:endParaRPr b="0" lang="es-MX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s-MX" sz="1400" spc="-1" strike="noStrike">
                <a:latin typeface="Times New Roman"/>
              </a:defRPr>
            </a:lvl1pPr>
          </a:lstStyle>
          <a:p>
            <a:r>
              <a:rPr b="0" lang="es-MX" sz="1400" spc="-1" strike="noStrike">
                <a:latin typeface="Times New Roman"/>
              </a:rPr>
              <a:t>&lt;fecha/hora&gt;</a:t>
            </a:r>
            <a:endParaRPr b="0" lang="es-MX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s-MX" sz="4400" spc="-1" strike="noStrike">
                <a:latin typeface="Arial"/>
              </a:rPr>
              <a:t>Pulse </a:t>
            </a:r>
            <a:r>
              <a:rPr b="0" lang="es-MX" sz="4400" spc="-1" strike="noStrike">
                <a:latin typeface="Arial"/>
              </a:rPr>
              <a:t>para </a:t>
            </a:r>
            <a:r>
              <a:rPr b="0" lang="es-MX" sz="4400" spc="-1" strike="noStrike">
                <a:latin typeface="Arial"/>
              </a:rPr>
              <a:t>editar el </a:t>
            </a:r>
            <a:r>
              <a:rPr b="0" lang="es-MX" sz="4400" spc="-1" strike="noStrike">
                <a:latin typeface="Arial"/>
              </a:rPr>
              <a:t>formato </a:t>
            </a:r>
            <a:r>
              <a:rPr b="0" lang="es-MX" sz="4400" spc="-1" strike="noStrike">
                <a:latin typeface="Arial"/>
              </a:rPr>
              <a:t>del </a:t>
            </a:r>
            <a:r>
              <a:rPr b="0" lang="es-MX" sz="4400" spc="-1" strike="noStrike">
                <a:latin typeface="Arial"/>
              </a:rPr>
              <a:t>texto de </a:t>
            </a:r>
            <a:r>
              <a:rPr b="0" lang="es-MX" sz="4400" spc="-1" strike="noStrike">
                <a:latin typeface="Arial"/>
              </a:rPr>
              <a:t>título</a:t>
            </a:r>
            <a:endParaRPr b="0" lang="es-MX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pc="-1" strike="noStrike">
                <a:latin typeface="Arial"/>
              </a:rPr>
              <a:t>Pulse para editar el formato de texto del esquema</a:t>
            </a:r>
            <a:endParaRPr b="0" lang="es-MX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pc="-1" strike="noStrike">
                <a:latin typeface="Arial"/>
              </a:rPr>
              <a:t>Segundo nivel del esquema</a:t>
            </a:r>
            <a:endParaRPr b="0" lang="es-MX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pc="-1" strike="noStrike">
                <a:latin typeface="Arial"/>
              </a:rPr>
              <a:t>Tercer nivel del esquema</a:t>
            </a:r>
            <a:endParaRPr b="0" lang="es-MX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pc="-1" strike="noStrike">
                <a:latin typeface="Arial"/>
              </a:rPr>
              <a:t>Cuarto nivel del esquema</a:t>
            </a:r>
            <a:endParaRPr b="0" lang="es-MX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latin typeface="Arial"/>
              </a:rPr>
              <a:t>Quinto nivel del esquema</a:t>
            </a:r>
            <a:endParaRPr b="0" lang="es-MX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latin typeface="Arial"/>
              </a:rPr>
              <a:t>Sexto nivel del esquema</a:t>
            </a:r>
            <a:endParaRPr b="0" lang="es-MX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latin typeface="Arial"/>
              </a:rPr>
              <a:t>Séptimo nivel del esquema</a:t>
            </a:r>
            <a:endParaRPr b="0" lang="es-MX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Rectangle 2"/>
          <p:cNvSpPr/>
          <p:nvPr/>
        </p:nvSpPr>
        <p:spPr>
          <a:xfrm>
            <a:off x="0" y="0"/>
            <a:ext cx="364680" cy="685692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" name="TextBox 3"/>
          <p:cNvSpPr/>
          <p:nvPr/>
        </p:nvSpPr>
        <p:spPr>
          <a:xfrm>
            <a:off x="914400" y="1097280"/>
            <a:ext cx="100573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e85454"/>
                </a:solidFill>
                <a:latin typeface="Calibri"/>
                <a:ea typeface="DejaVu Sans"/>
              </a:rPr>
              <a:t>MLOps · PROYECTO FINAL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914400" y="1554480"/>
            <a:ext cx="105145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1a2555"/>
                </a:solidFill>
                <a:latin typeface="Georgia"/>
                <a:ea typeface="DejaVu Sans"/>
              </a:rPr>
              <a:t>Prevención de Infartos</a:t>
            </a:r>
            <a:endParaRPr b="0" lang="es-MX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1a2555"/>
                </a:solidFill>
                <a:latin typeface="Georgia"/>
                <a:ea typeface="DejaVu Sans"/>
              </a:rPr>
              <a:t>en Asegurados</a:t>
            </a:r>
            <a:endParaRPr b="0" lang="es-MX" sz="54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914400" y="3200400"/>
            <a:ext cx="100573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2000" spc="-1" strike="noStrike">
                <a:solidFill>
                  <a:srgbClr val="1a2555"/>
                </a:solidFill>
                <a:latin typeface="Calibri"/>
                <a:ea typeface="DejaVu Sans"/>
              </a:rPr>
              <a:t>Modelo predictivo de riesgo cardiovascular para reducir costos de siniestralidad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997920" y="4206240"/>
            <a:ext cx="2376360" cy="146196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" name="TextBox 7"/>
          <p:cNvSpPr/>
          <p:nvPr/>
        </p:nvSpPr>
        <p:spPr>
          <a:xfrm>
            <a:off x="997920" y="4518360"/>
            <a:ext cx="23763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400" spc="-1" strike="noStrike">
                <a:solidFill>
                  <a:srgbClr val="e85454"/>
                </a:solidFill>
                <a:latin typeface="Georgia"/>
                <a:ea typeface="DejaVu Sans"/>
              </a:rPr>
              <a:t>43,400</a:t>
            </a:r>
            <a:endParaRPr b="0" lang="es-MX" sz="3400" spc="-1" strike="noStrike"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997920" y="5250240"/>
            <a:ext cx="23763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pacientes analizados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3603960" y="4206240"/>
            <a:ext cx="2376360" cy="146196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10"/>
          <p:cNvSpPr/>
          <p:nvPr/>
        </p:nvSpPr>
        <p:spPr>
          <a:xfrm>
            <a:off x="3603960" y="4518360"/>
            <a:ext cx="23763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400" spc="-1" strike="noStrike">
                <a:solidFill>
                  <a:srgbClr val="e85454"/>
                </a:solidFill>
                <a:latin typeface="Georgia"/>
                <a:ea typeface="DejaVu Sans"/>
              </a:rPr>
              <a:t>2.18 %</a:t>
            </a:r>
            <a:endParaRPr b="0" lang="es-MX" sz="3400" spc="-1" strike="noStrike">
              <a:latin typeface="Arial"/>
            </a:endParaRPr>
          </a:p>
        </p:txBody>
      </p:sp>
      <p:sp>
        <p:nvSpPr>
          <p:cNvPr id="51" name="TextBox 11"/>
          <p:cNvSpPr/>
          <p:nvPr/>
        </p:nvSpPr>
        <p:spPr>
          <a:xfrm>
            <a:off x="3603960" y="5250240"/>
            <a:ext cx="23763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prevalencia de infarto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6210000" y="4206240"/>
            <a:ext cx="2376360" cy="146196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TextBox 13"/>
          <p:cNvSpPr/>
          <p:nvPr/>
        </p:nvSpPr>
        <p:spPr>
          <a:xfrm>
            <a:off x="6210000" y="4518360"/>
            <a:ext cx="23763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400" spc="-1" strike="noStrike">
                <a:solidFill>
                  <a:srgbClr val="e85454"/>
                </a:solidFill>
                <a:latin typeface="Georgia"/>
                <a:ea typeface="DejaVu Sans"/>
              </a:rPr>
              <a:t>80.8 %</a:t>
            </a:r>
            <a:endParaRPr b="0" lang="es-MX" sz="3400" spc="-1" strike="noStrike">
              <a:latin typeface="Arial"/>
            </a:endParaRPr>
          </a:p>
        </p:txBody>
      </p:sp>
      <p:sp>
        <p:nvSpPr>
          <p:cNvPr id="54" name="TextBox 14"/>
          <p:cNvSpPr/>
          <p:nvPr/>
        </p:nvSpPr>
        <p:spPr>
          <a:xfrm>
            <a:off x="6210000" y="5250240"/>
            <a:ext cx="23763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Recall del modelo final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8816040" y="4206240"/>
            <a:ext cx="2376360" cy="146196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" name="TextBox 16"/>
          <p:cNvSpPr/>
          <p:nvPr/>
        </p:nvSpPr>
        <p:spPr>
          <a:xfrm>
            <a:off x="8816040" y="4518360"/>
            <a:ext cx="23763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400" spc="-1" strike="noStrike">
                <a:solidFill>
                  <a:srgbClr val="e85454"/>
                </a:solidFill>
                <a:latin typeface="Georgia"/>
                <a:ea typeface="DejaVu Sans"/>
              </a:rPr>
              <a:t>126 / 156</a:t>
            </a:r>
            <a:endParaRPr b="0" lang="es-MX" sz="3400" spc="-1" strike="noStrike">
              <a:latin typeface="Arial"/>
            </a:endParaRPr>
          </a:p>
        </p:txBody>
      </p:sp>
      <p:sp>
        <p:nvSpPr>
          <p:cNvPr id="57" name="TextBox 17"/>
          <p:cNvSpPr/>
          <p:nvPr/>
        </p:nvSpPr>
        <p:spPr>
          <a:xfrm>
            <a:off x="8816040" y="5250240"/>
            <a:ext cx="23763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infartos detectados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914400" y="6263640"/>
            <a:ext cx="10057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Eduardo Rodolfo Rodríguez Gallegos · Mayo 2026</a:t>
            </a:r>
            <a:endParaRPr b="0" lang="es-MX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1.  Descripción del caso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¿Por qué una aseguradora necesita predecir riesgo de infarto?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548640" y="1371600"/>
            <a:ext cx="5942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f3c7e"/>
                </a:solidFill>
                <a:latin typeface="Calibri"/>
                <a:ea typeface="DejaVu Sans"/>
              </a:rPr>
              <a:t>Problema clínico y de negocio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548640" y="1874520"/>
            <a:ext cx="6125400" cy="23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En síndrome coronario agudo, la mortalidad y el infarto no fatal a 6 meses son predecibles con variables clínicas sencillas.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La aseguradora absorbe altos costos por hospitalización, cuidados intensivos y pago de primas tras un infarto.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Detectar a tiempo a los pacientes de alto riesgo permite intervenir preventivamente (chequeos, control de tensión, dejar de fumar).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Reducir incluso un 10 % de los siniestros evitables se traduce en ahorro significativo y mejor experiencia del asegurado.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64" name="Rectangle 6"/>
          <p:cNvSpPr/>
          <p:nvPr/>
        </p:nvSpPr>
        <p:spPr>
          <a:xfrm>
            <a:off x="548640" y="4937760"/>
            <a:ext cx="6125400" cy="137052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TextBox 7"/>
          <p:cNvSpPr/>
          <p:nvPr/>
        </p:nvSpPr>
        <p:spPr>
          <a:xfrm>
            <a:off x="777240" y="5074920"/>
            <a:ext cx="5668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¿Por qué Machine Learning?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777240" y="5440680"/>
            <a:ext cx="56682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Las reglas clínicas tradicionales (edad &gt;60, hipertensión) son binarias y pierden el ranking continuo de riesgo. Un modelo probabilístico permite priorizar a cada paciente y definir umbrales operativos según el coste de la intervención.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67" name="Rectangle 9"/>
          <p:cNvSpPr/>
          <p:nvPr/>
        </p:nvSpPr>
        <p:spPr>
          <a:xfrm>
            <a:off x="6949440" y="1371600"/>
            <a:ext cx="4753800" cy="493668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TextBox 10"/>
          <p:cNvSpPr/>
          <p:nvPr/>
        </p:nvSpPr>
        <p:spPr>
          <a:xfrm>
            <a:off x="7223760" y="1600200"/>
            <a:ext cx="4205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990011"/>
                </a:solidFill>
                <a:latin typeface="Calibri"/>
                <a:ea typeface="DejaVu Sans"/>
              </a:rPr>
              <a:t>Objetivo del proyecto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7223760" y="2148840"/>
            <a:ext cx="42051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i="1" lang="en-US" sz="1400" spc="-1" strike="noStrike">
                <a:solidFill>
                  <a:srgbClr val="2f3c7e"/>
                </a:solidFill>
                <a:latin typeface="Calibri"/>
                <a:ea typeface="DejaVu Sans"/>
              </a:rPr>
              <a:t>Clasificación binaria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7223760" y="2468880"/>
            <a:ext cx="42051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Construir un modelo que estime la probabilidad de infarto a partir del histórico de 4 años de asegurados, y lo integre en un servicio MLOps reproducible y monitoreado.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71" name="TextBox 13"/>
          <p:cNvSpPr/>
          <p:nvPr/>
        </p:nvSpPr>
        <p:spPr>
          <a:xfrm>
            <a:off x="7223760" y="3931920"/>
            <a:ext cx="42051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i="1" lang="en-US" sz="1400" spc="-1" strike="noStrike">
                <a:solidFill>
                  <a:srgbClr val="2f3c7e"/>
                </a:solidFill>
                <a:latin typeface="Calibri"/>
                <a:ea typeface="DejaVu Sans"/>
              </a:rPr>
              <a:t>Métrica priorizada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72" name="TextBox 14"/>
          <p:cNvSpPr/>
          <p:nvPr/>
        </p:nvSpPr>
        <p:spPr>
          <a:xfrm>
            <a:off x="7223760" y="4251960"/>
            <a:ext cx="420516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Recall: minimizar falsos negativos (un paciente no detectado = costo clínico y económico alto).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36454f"/>
                </a:solidFill>
                <a:latin typeface="Calibri"/>
                <a:ea typeface="DejaVu Sans"/>
              </a:rPr>
              <a:t>F1 como piso: evita el modelo trivial que alerta a todo el mundo.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73" name="Rectangle 15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" name="TextBox 16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75" name="TextBox 17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2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2.  Dataset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43,400 asegurados con 4 años de histórico clínico (sep=";")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48640" y="1371600"/>
            <a:ext cx="2102040" cy="118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0" name="TextBox 5"/>
          <p:cNvSpPr/>
          <p:nvPr/>
        </p:nvSpPr>
        <p:spPr>
          <a:xfrm>
            <a:off x="548640" y="1668240"/>
            <a:ext cx="2102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f3c7e"/>
                </a:solidFill>
                <a:latin typeface="Georgia"/>
                <a:ea typeface="DejaVu Sans"/>
              </a:rPr>
              <a:t>43,400</a:t>
            </a:r>
            <a:endParaRPr b="0" lang="es-MX" sz="2400" spc="-1" strike="noStrike"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548640" y="2191320"/>
            <a:ext cx="2102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filas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82" name="Rectangle 7"/>
          <p:cNvSpPr/>
          <p:nvPr/>
        </p:nvSpPr>
        <p:spPr>
          <a:xfrm>
            <a:off x="2788920" y="1371600"/>
            <a:ext cx="2102040" cy="118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TextBox 8"/>
          <p:cNvSpPr/>
          <p:nvPr/>
        </p:nvSpPr>
        <p:spPr>
          <a:xfrm>
            <a:off x="2788920" y="1668240"/>
            <a:ext cx="2102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2f3c7e"/>
                </a:solidFill>
                <a:latin typeface="Georgia"/>
                <a:ea typeface="DejaVu Sans"/>
              </a:rPr>
              <a:t>12</a:t>
            </a:r>
            <a:endParaRPr b="0" lang="es-MX" sz="2400" spc="-1" strike="noStrike"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2788920" y="2191320"/>
            <a:ext cx="2102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columnas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5029200" y="1371600"/>
            <a:ext cx="2102040" cy="118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TextBox 11"/>
          <p:cNvSpPr/>
          <p:nvPr/>
        </p:nvSpPr>
        <p:spPr>
          <a:xfrm>
            <a:off x="5029200" y="1668240"/>
            <a:ext cx="2102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990011"/>
                </a:solidFill>
                <a:latin typeface="Georgia"/>
                <a:ea typeface="DejaVu Sans"/>
              </a:rPr>
              <a:t>2.18 %</a:t>
            </a:r>
            <a:endParaRPr b="0" lang="es-MX" sz="2400" spc="-1" strike="noStrike"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5029200" y="2191320"/>
            <a:ext cx="2102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prevalencia (+)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7269480" y="1371600"/>
            <a:ext cx="2102040" cy="118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9" name="TextBox 14"/>
          <p:cNvSpPr/>
          <p:nvPr/>
        </p:nvSpPr>
        <p:spPr>
          <a:xfrm>
            <a:off x="7269480" y="1668240"/>
            <a:ext cx="2102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b87800"/>
                </a:solidFill>
                <a:latin typeface="Georgia"/>
                <a:ea typeface="DejaVu Sans"/>
              </a:rPr>
              <a:t>30.6 %</a:t>
            </a:r>
            <a:endParaRPr b="0" lang="es-MX" sz="2400" spc="-1" strike="noStrike">
              <a:latin typeface="Arial"/>
            </a:endParaRPr>
          </a:p>
        </p:txBody>
      </p:sp>
      <p:sp>
        <p:nvSpPr>
          <p:cNvPr id="90" name="TextBox 15"/>
          <p:cNvSpPr/>
          <p:nvPr/>
        </p:nvSpPr>
        <p:spPr>
          <a:xfrm>
            <a:off x="7269480" y="2191320"/>
            <a:ext cx="2102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nulos Fumador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91" name="Rectangle 16"/>
          <p:cNvSpPr/>
          <p:nvPr/>
        </p:nvSpPr>
        <p:spPr>
          <a:xfrm>
            <a:off x="9509760" y="1371600"/>
            <a:ext cx="2102040" cy="118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17"/>
          <p:cNvSpPr/>
          <p:nvPr/>
        </p:nvSpPr>
        <p:spPr>
          <a:xfrm>
            <a:off x="9509760" y="1668240"/>
            <a:ext cx="21020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b87800"/>
                </a:solidFill>
                <a:latin typeface="Georgia"/>
                <a:ea typeface="DejaVu Sans"/>
              </a:rPr>
              <a:t>3.4 %</a:t>
            </a:r>
            <a:endParaRPr b="0" lang="es-MX" sz="2400" spc="-1" strike="noStrike">
              <a:latin typeface="Arial"/>
            </a:endParaRPr>
          </a:p>
        </p:txBody>
      </p:sp>
      <p:sp>
        <p:nvSpPr>
          <p:cNvPr id="93" name="TextBox 18"/>
          <p:cNvSpPr/>
          <p:nvPr/>
        </p:nvSpPr>
        <p:spPr>
          <a:xfrm>
            <a:off x="9509760" y="2191320"/>
            <a:ext cx="2102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nulos IMC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94" name="TextBox 19"/>
          <p:cNvSpPr/>
          <p:nvPr/>
        </p:nvSpPr>
        <p:spPr>
          <a:xfrm>
            <a:off x="548640" y="2834640"/>
            <a:ext cx="5942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2f3c7e"/>
                </a:solidFill>
                <a:latin typeface="Calibri"/>
                <a:ea typeface="DejaVu Sans"/>
              </a:rPr>
              <a:t>Variables predictoras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95" name="Rectangle 20"/>
          <p:cNvSpPr/>
          <p:nvPr/>
        </p:nvSpPr>
        <p:spPr>
          <a:xfrm>
            <a:off x="548640" y="3246120"/>
            <a:ext cx="1553400" cy="63900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6" name="TextBox 21"/>
          <p:cNvSpPr/>
          <p:nvPr/>
        </p:nvSpPr>
        <p:spPr>
          <a:xfrm>
            <a:off x="640080" y="3459600"/>
            <a:ext cx="1461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Numéricas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97" name="TextBox 22"/>
          <p:cNvSpPr/>
          <p:nvPr/>
        </p:nvSpPr>
        <p:spPr>
          <a:xfrm>
            <a:off x="2194560" y="3467160"/>
            <a:ext cx="41137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Edad, IMC, Promedio_nivel_glucosa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98" name="Rectangle 23"/>
          <p:cNvSpPr/>
          <p:nvPr/>
        </p:nvSpPr>
        <p:spPr>
          <a:xfrm>
            <a:off x="548640" y="3886200"/>
            <a:ext cx="1553400" cy="63900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24"/>
          <p:cNvSpPr/>
          <p:nvPr/>
        </p:nvSpPr>
        <p:spPr>
          <a:xfrm>
            <a:off x="640080" y="4099680"/>
            <a:ext cx="1461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Binarias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00" name="TextBox 25"/>
          <p:cNvSpPr/>
          <p:nvPr/>
        </p:nvSpPr>
        <p:spPr>
          <a:xfrm>
            <a:off x="2194560" y="4007880"/>
            <a:ext cx="4113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Genero, Estados_civil, Flag_hipertension,</a:t>
            </a: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Flag_problem_cardiaco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01" name="Rectangle 26"/>
          <p:cNvSpPr/>
          <p:nvPr/>
        </p:nvSpPr>
        <p:spPr>
          <a:xfrm>
            <a:off x="548640" y="4526280"/>
            <a:ext cx="1553400" cy="63900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TextBox 27"/>
          <p:cNvSpPr/>
          <p:nvPr/>
        </p:nvSpPr>
        <p:spPr>
          <a:xfrm>
            <a:off x="640080" y="4739760"/>
            <a:ext cx="1461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Categóricas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03" name="TextBox 28"/>
          <p:cNvSpPr/>
          <p:nvPr/>
        </p:nvSpPr>
        <p:spPr>
          <a:xfrm>
            <a:off x="2194560" y="4647960"/>
            <a:ext cx="4113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Tipo_trabajo (4), Flag_fumador (4),</a:t>
            </a: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Zona_residencia (2)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04" name="Rectangle 29"/>
          <p:cNvSpPr/>
          <p:nvPr/>
        </p:nvSpPr>
        <p:spPr>
          <a:xfrm>
            <a:off x="548640" y="5166360"/>
            <a:ext cx="1553400" cy="63900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30"/>
          <p:cNvSpPr/>
          <p:nvPr/>
        </p:nvSpPr>
        <p:spPr>
          <a:xfrm>
            <a:off x="640080" y="5379840"/>
            <a:ext cx="1461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Target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06" name="TextBox 31"/>
          <p:cNvSpPr/>
          <p:nvPr/>
        </p:nvSpPr>
        <p:spPr>
          <a:xfrm>
            <a:off x="2194560" y="5387400"/>
            <a:ext cx="41137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Ataque_cardiaco (0/1)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07" name="TextBox 32"/>
          <p:cNvSpPr/>
          <p:nvPr/>
        </p:nvSpPr>
        <p:spPr>
          <a:xfrm>
            <a:off x="6949440" y="2834640"/>
            <a:ext cx="4753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2f3c7e"/>
                </a:solidFill>
                <a:latin typeface="Calibri"/>
                <a:ea typeface="DejaVu Sans"/>
              </a:rPr>
              <a:t>El reto del problema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08" name="Rectangle 33"/>
          <p:cNvSpPr/>
          <p:nvPr/>
        </p:nvSpPr>
        <p:spPr>
          <a:xfrm>
            <a:off x="6949440" y="3246120"/>
            <a:ext cx="4210560" cy="269388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35"/>
          <p:cNvSpPr/>
          <p:nvPr/>
        </p:nvSpPr>
        <p:spPr>
          <a:xfrm>
            <a:off x="7278840" y="3527280"/>
            <a:ext cx="3521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Desbalance severo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110" name="TextBox 36"/>
          <p:cNvSpPr/>
          <p:nvPr/>
        </p:nvSpPr>
        <p:spPr>
          <a:xfrm>
            <a:off x="7278840" y="3893040"/>
            <a:ext cx="3521160" cy="15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Accuracy NO sirve: 98 % es trivial y no detecta a nadie.</a:t>
            </a: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Recall = métrica priorizada (capta el 81 % de los infartos reales).</a:t>
            </a: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F1 absoluto es bajo (~0.10) por el desbalance; lo que importa es el ratio sobre el baseline (4× PR-AUC).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11" name="Rectangle 37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38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113" name="TextBox 39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3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3.  EDA, limpieza y selección de features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Decisiones tomadas a partir del análisis exploratorio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548640" y="1371600"/>
            <a:ext cx="548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2f3c7e"/>
                </a:solidFill>
                <a:latin typeface="Calibri"/>
                <a:ea typeface="DejaVu Sans"/>
              </a:rPr>
              <a:t>Limpieza y preprocesamiento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18" name="TextBox 5"/>
          <p:cNvSpPr/>
          <p:nvPr/>
        </p:nvSpPr>
        <p:spPr>
          <a:xfrm>
            <a:off x="548640" y="1783080"/>
            <a:ext cx="5485320" cy="15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Edad &lt; 18 (n=7,539): excluidos. Prevalencia ~0.03 % → ruido clínico.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Genero=Other (n=11): excluido. Cero infartos en todo el dataset.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IMC nulos (3.4 %): imputados con mediana del train set.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Flag_fumador nulos (30.6 %): mapeados a "Desconocido" (categoría válida, no imputable).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Winsorización p1–p99 en Edad, IMC y Promedio_nivel_glucosa.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19" name="TextBox 6"/>
          <p:cNvSpPr/>
          <p:nvPr/>
        </p:nvSpPr>
        <p:spPr>
          <a:xfrm>
            <a:off x="548640" y="3840480"/>
            <a:ext cx="54853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f3c7e"/>
                </a:solidFill>
                <a:latin typeface="Calibri"/>
                <a:ea typeface="DejaVu Sans"/>
              </a:rPr>
              <a:t>Top-10 features (consenso de 4 métodos)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548640" y="4206240"/>
            <a:ext cx="5485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Mann-Whitney · Point-Biserial · ANOVA · Mutual Information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548640" y="457200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Edad · Flag_problem_cardiaco · Promedio_nivel_glucosa · Estados_civil · Tipo_trabajo (Empresa_privada, Emprendedor) · Flag_hipertension · Genero · Flag_fumador (Nunca_fuma, antes_fumaba)</a:t>
            </a:r>
            <a:endParaRPr b="0" lang="es-MX" sz="1400" spc="-1" strike="noStrike">
              <a:latin typeface="Arial"/>
            </a:endParaRPr>
          </a:p>
        </p:txBody>
      </p:sp>
      <p:pic>
        <p:nvPicPr>
          <p:cNvPr id="122" name="Picture 9" descr="feature_selection.png"/>
          <p:cNvPicPr/>
          <p:nvPr/>
        </p:nvPicPr>
        <p:blipFill>
          <a:blip r:embed="rId1"/>
          <a:stretch/>
        </p:blipFill>
        <p:spPr>
          <a:xfrm>
            <a:off x="6400800" y="1417320"/>
            <a:ext cx="5485320" cy="4570920"/>
          </a:xfrm>
          <a:prstGeom prst="rect">
            <a:avLst/>
          </a:prstGeom>
          <a:ln w="0">
            <a:noFill/>
          </a:ln>
        </p:spPr>
      </p:pic>
      <p:sp>
        <p:nvSpPr>
          <p:cNvPr id="123" name="Rectangle 10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TextBox 11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125" name="TextBox 12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4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4.  Modelos candidatos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Tres estrategias evaluadas con 10-fold StratifiedKFold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129" name="Rectangle 4"/>
          <p:cNvSpPr/>
          <p:nvPr/>
        </p:nvSpPr>
        <p:spPr>
          <a:xfrm>
            <a:off x="548640" y="1463040"/>
            <a:ext cx="1644840" cy="50184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5"/>
          <p:cNvSpPr/>
          <p:nvPr/>
        </p:nvSpPr>
        <p:spPr>
          <a:xfrm>
            <a:off x="685800" y="1607760"/>
            <a:ext cx="14619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Modelo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31" name="Rectangle 6"/>
          <p:cNvSpPr/>
          <p:nvPr/>
        </p:nvSpPr>
        <p:spPr>
          <a:xfrm>
            <a:off x="2194560" y="1463040"/>
            <a:ext cx="2742120" cy="50184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TextBox 7"/>
          <p:cNvSpPr/>
          <p:nvPr/>
        </p:nvSpPr>
        <p:spPr>
          <a:xfrm>
            <a:off x="2331720" y="1607760"/>
            <a:ext cx="25592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Estrategia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33" name="Rectangle 8"/>
          <p:cNvSpPr/>
          <p:nvPr/>
        </p:nvSpPr>
        <p:spPr>
          <a:xfrm>
            <a:off x="4937760" y="1463040"/>
            <a:ext cx="1827720" cy="50184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9"/>
          <p:cNvSpPr/>
          <p:nvPr/>
        </p:nvSpPr>
        <p:spPr>
          <a:xfrm>
            <a:off x="5074920" y="1607760"/>
            <a:ext cx="164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Decisión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35" name="Rectangle 10"/>
          <p:cNvSpPr/>
          <p:nvPr/>
        </p:nvSpPr>
        <p:spPr>
          <a:xfrm>
            <a:off x="548640" y="1965960"/>
            <a:ext cx="164484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6" name="Rectangle 11"/>
          <p:cNvSpPr/>
          <p:nvPr/>
        </p:nvSpPr>
        <p:spPr>
          <a:xfrm>
            <a:off x="2194560" y="1965960"/>
            <a:ext cx="274212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7" name="Rectangle 12"/>
          <p:cNvSpPr/>
          <p:nvPr/>
        </p:nvSpPr>
        <p:spPr>
          <a:xfrm>
            <a:off x="4937760" y="1965960"/>
            <a:ext cx="182772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13"/>
          <p:cNvSpPr/>
          <p:nvPr/>
        </p:nvSpPr>
        <p:spPr>
          <a:xfrm>
            <a:off x="685800" y="2118240"/>
            <a:ext cx="1461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LR_balanced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39" name="TextBox 14"/>
          <p:cNvSpPr/>
          <p:nvPr/>
        </p:nvSpPr>
        <p:spPr>
          <a:xfrm>
            <a:off x="2331720" y="2118240"/>
            <a:ext cx="25592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class_weight="balanced"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40" name="TextBox 15"/>
          <p:cNvSpPr/>
          <p:nvPr/>
        </p:nvSpPr>
        <p:spPr>
          <a:xfrm>
            <a:off x="5074920" y="2118240"/>
            <a:ext cx="1644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SELECCIONADO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41" name="Rectangle 16"/>
          <p:cNvSpPr/>
          <p:nvPr/>
        </p:nvSpPr>
        <p:spPr>
          <a:xfrm>
            <a:off x="548640" y="2468880"/>
            <a:ext cx="1644840" cy="50184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Rectangle 17"/>
          <p:cNvSpPr/>
          <p:nvPr/>
        </p:nvSpPr>
        <p:spPr>
          <a:xfrm>
            <a:off x="2194560" y="2468880"/>
            <a:ext cx="2742120" cy="50184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18"/>
          <p:cNvSpPr/>
          <p:nvPr/>
        </p:nvSpPr>
        <p:spPr>
          <a:xfrm>
            <a:off x="4937760" y="2468880"/>
            <a:ext cx="1827720" cy="50184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19"/>
          <p:cNvSpPr/>
          <p:nvPr/>
        </p:nvSpPr>
        <p:spPr>
          <a:xfrm>
            <a:off x="685800" y="2621160"/>
            <a:ext cx="1461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RF_balanced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45" name="TextBox 20"/>
          <p:cNvSpPr/>
          <p:nvPr/>
        </p:nvSpPr>
        <p:spPr>
          <a:xfrm>
            <a:off x="2331720" y="2621160"/>
            <a:ext cx="25592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class_weight + tuning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46" name="TextBox 21"/>
          <p:cNvSpPr/>
          <p:nvPr/>
        </p:nvSpPr>
        <p:spPr>
          <a:xfrm>
            <a:off x="5074920" y="2621160"/>
            <a:ext cx="1644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Buen segundo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47" name="Rectangle 22"/>
          <p:cNvSpPr/>
          <p:nvPr/>
        </p:nvSpPr>
        <p:spPr>
          <a:xfrm>
            <a:off x="548640" y="2971800"/>
            <a:ext cx="164484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Rectangle 23"/>
          <p:cNvSpPr/>
          <p:nvPr/>
        </p:nvSpPr>
        <p:spPr>
          <a:xfrm>
            <a:off x="2194560" y="2971800"/>
            <a:ext cx="274212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Rectangle 24"/>
          <p:cNvSpPr/>
          <p:nvPr/>
        </p:nvSpPr>
        <p:spPr>
          <a:xfrm>
            <a:off x="4937760" y="2971800"/>
            <a:ext cx="1827720" cy="5018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TextBox 25"/>
          <p:cNvSpPr/>
          <p:nvPr/>
        </p:nvSpPr>
        <p:spPr>
          <a:xfrm>
            <a:off x="685800" y="3124080"/>
            <a:ext cx="1461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GaussianNB_cal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51" name="TextBox 26"/>
          <p:cNvSpPr/>
          <p:nvPr/>
        </p:nvSpPr>
        <p:spPr>
          <a:xfrm>
            <a:off x="2331720" y="3124080"/>
            <a:ext cx="25592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CalibratedClassifierCV (isotónico)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52" name="TextBox 27"/>
          <p:cNvSpPr/>
          <p:nvPr/>
        </p:nvSpPr>
        <p:spPr>
          <a:xfrm>
            <a:off x="5074920" y="3124080"/>
            <a:ext cx="1644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e85454"/>
                </a:solidFill>
                <a:latin typeface="Calibri"/>
                <a:ea typeface="DejaVu Sans"/>
              </a:rPr>
              <a:t>Falla thr=0.5</a:t>
            </a:r>
            <a:endParaRPr b="0" lang="es-MX" sz="1300" spc="-1" strike="noStrike">
              <a:latin typeface="Arial"/>
            </a:endParaRPr>
          </a:p>
        </p:txBody>
      </p:sp>
      <p:pic>
        <p:nvPicPr>
          <p:cNvPr id="153" name="Picture 28" descr="slide_cv_recall.png"/>
          <p:cNvPicPr/>
          <p:nvPr/>
        </p:nvPicPr>
        <p:blipFill>
          <a:blip r:embed="rId1"/>
          <a:stretch/>
        </p:blipFill>
        <p:spPr>
          <a:xfrm>
            <a:off x="6949440" y="1417320"/>
            <a:ext cx="4845240" cy="2284920"/>
          </a:xfrm>
          <a:prstGeom prst="rect">
            <a:avLst/>
          </a:prstGeom>
          <a:ln w="0">
            <a:noFill/>
          </a:ln>
        </p:spPr>
      </p:pic>
      <p:sp>
        <p:nvSpPr>
          <p:cNvPr id="154" name="TextBox 29"/>
          <p:cNvSpPr/>
          <p:nvPr/>
        </p:nvSpPr>
        <p:spPr>
          <a:xfrm>
            <a:off x="548640" y="3657600"/>
            <a:ext cx="109717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f3c7e"/>
                </a:solidFill>
                <a:latin typeface="Calibri"/>
                <a:ea typeface="DejaVu Sans"/>
              </a:rPr>
              <a:t>Hallazgos clave del experimento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155" name="Oval 30"/>
          <p:cNvSpPr/>
          <p:nvPr/>
        </p:nvSpPr>
        <p:spPr>
          <a:xfrm>
            <a:off x="525960" y="4183560"/>
            <a:ext cx="501840" cy="501840"/>
          </a:xfrm>
          <a:prstGeom prst="ellipse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TextBox 31"/>
          <p:cNvSpPr/>
          <p:nvPr/>
        </p:nvSpPr>
        <p:spPr>
          <a:xfrm>
            <a:off x="525960" y="4297680"/>
            <a:ext cx="501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a2555"/>
                </a:solidFill>
                <a:latin typeface="Calibri"/>
                <a:ea typeface="DejaVu Sans"/>
              </a:rPr>
              <a:t>1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57" name="TextBox 32"/>
          <p:cNvSpPr/>
          <p:nvPr/>
        </p:nvSpPr>
        <p:spPr>
          <a:xfrm>
            <a:off x="1371600" y="4114800"/>
            <a:ext cx="10331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f3c7e"/>
                </a:solidFill>
                <a:latin typeface="Calibri"/>
                <a:ea typeface="DejaVu Sans"/>
              </a:rPr>
              <a:t>Sin SMOTE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58" name="TextBox 33"/>
          <p:cNvSpPr/>
          <p:nvPr/>
        </p:nvSpPr>
        <p:spPr>
          <a:xfrm>
            <a:off x="1371600" y="4434840"/>
            <a:ext cx="10331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Se descartó SMOTE: distorsiona los priors y rompe la calibración (XGBoost+SMOTE caía a Recall 0.22 fuera del CV).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59" name="Oval 34"/>
          <p:cNvSpPr/>
          <p:nvPr/>
        </p:nvSpPr>
        <p:spPr>
          <a:xfrm>
            <a:off x="525960" y="5052240"/>
            <a:ext cx="501840" cy="501840"/>
          </a:xfrm>
          <a:prstGeom prst="ellipse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TextBox 35"/>
          <p:cNvSpPr/>
          <p:nvPr/>
        </p:nvSpPr>
        <p:spPr>
          <a:xfrm>
            <a:off x="525960" y="5166360"/>
            <a:ext cx="501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a2555"/>
                </a:solidFill>
                <a:latin typeface="Calibri"/>
                <a:ea typeface="DejaVu Sans"/>
              </a:rPr>
              <a:t>2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61" name="TextBox 36"/>
          <p:cNvSpPr/>
          <p:nvPr/>
        </p:nvSpPr>
        <p:spPr>
          <a:xfrm>
            <a:off x="1371600" y="4983480"/>
            <a:ext cx="10331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f3c7e"/>
                </a:solidFill>
                <a:latin typeface="Calibri"/>
                <a:ea typeface="DejaVu Sans"/>
              </a:rPr>
              <a:t>Tuning con scoring="recall"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62" name="TextBox 37"/>
          <p:cNvSpPr/>
          <p:nvPr/>
        </p:nvSpPr>
        <p:spPr>
          <a:xfrm>
            <a:off x="1371600" y="5303520"/>
            <a:ext cx="10331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RandomizedSearchCV optimizó cada modelo por Recall. RF saltó de Recall 0.35 → 0.78 al ajustar max_depth y min_samples_leaf.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63" name="Oval 38"/>
          <p:cNvSpPr/>
          <p:nvPr/>
        </p:nvSpPr>
        <p:spPr>
          <a:xfrm>
            <a:off x="525960" y="5920920"/>
            <a:ext cx="501840" cy="501840"/>
          </a:xfrm>
          <a:prstGeom prst="ellipse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39"/>
          <p:cNvSpPr/>
          <p:nvPr/>
        </p:nvSpPr>
        <p:spPr>
          <a:xfrm>
            <a:off x="525960" y="6035040"/>
            <a:ext cx="501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a2555"/>
                </a:solidFill>
                <a:latin typeface="Calibri"/>
                <a:ea typeface="DejaVu Sans"/>
              </a:rPr>
              <a:t>3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65" name="TextBox 40"/>
          <p:cNvSpPr/>
          <p:nvPr/>
        </p:nvSpPr>
        <p:spPr>
          <a:xfrm>
            <a:off x="1371600" y="5852160"/>
            <a:ext cx="103316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2f3c7e"/>
                </a:solidFill>
                <a:latin typeface="Calibri"/>
                <a:ea typeface="DejaVu Sans"/>
              </a:rPr>
              <a:t>GaussianNB no califica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66" name="TextBox 41"/>
          <p:cNvSpPr/>
          <p:nvPr/>
        </p:nvSpPr>
        <p:spPr>
          <a:xfrm>
            <a:off x="1371600" y="6172200"/>
            <a:ext cx="10331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Pese a la calibración isotónica, sus probabilidades quedan concentradas y solo activa a thr ~0.05, perdiendo Recall.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67" name="Rectangle 42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8" name="TextBox 43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169" name="TextBox 44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5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5.  Criterio de selección y threshold operativo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Por qué no se eligió el modelo de mayor F1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173" name="Rectangle 4"/>
          <p:cNvSpPr/>
          <p:nvPr/>
        </p:nvSpPr>
        <p:spPr>
          <a:xfrm>
            <a:off x="472320" y="1371600"/>
            <a:ext cx="3656520" cy="2193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Rectangle 5"/>
          <p:cNvSpPr/>
          <p:nvPr/>
        </p:nvSpPr>
        <p:spPr>
          <a:xfrm>
            <a:off x="472320" y="1371600"/>
            <a:ext cx="3656520" cy="547560"/>
          </a:xfrm>
          <a:prstGeom prst="rect">
            <a:avLst/>
          </a:prstGeom>
          <a:solidFill>
            <a:srgbClr val="e854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5" name="TextBox 6"/>
          <p:cNvSpPr/>
          <p:nvPr/>
        </p:nvSpPr>
        <p:spPr>
          <a:xfrm>
            <a:off x="746640" y="1523880"/>
            <a:ext cx="310788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a2555"/>
                </a:solidFill>
                <a:latin typeface="Calibri"/>
                <a:ea typeface="DejaVu Sans"/>
              </a:rPr>
              <a:t>Máximo F1 puro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76" name="TextBox 7"/>
          <p:cNvSpPr/>
          <p:nvPr/>
        </p:nvSpPr>
        <p:spPr>
          <a:xfrm>
            <a:off x="3489840" y="1477800"/>
            <a:ext cx="4561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a2555"/>
                </a:solidFill>
                <a:latin typeface="Calibri"/>
                <a:ea typeface="DejaVu Sans"/>
              </a:rPr>
              <a:t>✗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177" name="TextBox 8"/>
          <p:cNvSpPr/>
          <p:nvPr/>
        </p:nvSpPr>
        <p:spPr>
          <a:xfrm>
            <a:off x="746640" y="2385360"/>
            <a:ext cx="310788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thr = 0.68 · F1 = 0.146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Recall = 0.55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→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pierde 70 de 156 infartos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78" name="Rectangle 9"/>
          <p:cNvSpPr/>
          <p:nvPr/>
        </p:nvSpPr>
        <p:spPr>
          <a:xfrm>
            <a:off x="4267080" y="1371600"/>
            <a:ext cx="3656520" cy="2193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Rectangle 10"/>
          <p:cNvSpPr/>
          <p:nvPr/>
        </p:nvSpPr>
        <p:spPr>
          <a:xfrm>
            <a:off x="4267080" y="1371600"/>
            <a:ext cx="3656520" cy="547560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0" name="TextBox 11"/>
          <p:cNvSpPr/>
          <p:nvPr/>
        </p:nvSpPr>
        <p:spPr>
          <a:xfrm>
            <a:off x="4541400" y="1523880"/>
            <a:ext cx="310788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a2555"/>
                </a:solidFill>
                <a:latin typeface="Calibri"/>
                <a:ea typeface="DejaVu Sans"/>
              </a:rPr>
              <a:t>Máximo Recall sin piso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81" name="TextBox 12"/>
          <p:cNvSpPr/>
          <p:nvPr/>
        </p:nvSpPr>
        <p:spPr>
          <a:xfrm>
            <a:off x="7284600" y="1477800"/>
            <a:ext cx="4561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a2555"/>
                </a:solidFill>
                <a:latin typeface="Calibri"/>
                <a:ea typeface="DejaVu Sans"/>
              </a:rPr>
              <a:t>~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182" name="TextBox 13"/>
          <p:cNvSpPr/>
          <p:nvPr/>
        </p:nvSpPr>
        <p:spPr>
          <a:xfrm>
            <a:off x="4541400" y="2385360"/>
            <a:ext cx="310788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thr → 0 · Recall ≈ 1.00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Alerta al 90 % de pacientes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→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inútil operativamente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83" name="Rectangle 14"/>
          <p:cNvSpPr/>
          <p:nvPr/>
        </p:nvSpPr>
        <p:spPr>
          <a:xfrm>
            <a:off x="8061840" y="1371600"/>
            <a:ext cx="3656520" cy="2193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Rectangle 15"/>
          <p:cNvSpPr/>
          <p:nvPr/>
        </p:nvSpPr>
        <p:spPr>
          <a:xfrm>
            <a:off x="8061840" y="1371600"/>
            <a:ext cx="3656520" cy="5475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16"/>
          <p:cNvSpPr/>
          <p:nvPr/>
        </p:nvSpPr>
        <p:spPr>
          <a:xfrm>
            <a:off x="8336160" y="1523880"/>
            <a:ext cx="310788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a2555"/>
                </a:solidFill>
                <a:latin typeface="Calibri"/>
                <a:ea typeface="DejaVu Sans"/>
              </a:rPr>
              <a:t>Max Recall con F1 ≥ 0.10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186" name="TextBox 17"/>
          <p:cNvSpPr/>
          <p:nvPr/>
        </p:nvSpPr>
        <p:spPr>
          <a:xfrm>
            <a:off x="11079360" y="1477800"/>
            <a:ext cx="45612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1a2555"/>
                </a:solidFill>
                <a:latin typeface="Calibri"/>
                <a:ea typeface="DejaVu Sans"/>
              </a:rPr>
              <a:t>✓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187" name="TextBox 18"/>
          <p:cNvSpPr/>
          <p:nvPr/>
        </p:nvSpPr>
        <p:spPr>
          <a:xfrm>
            <a:off x="8336160" y="2385360"/>
            <a:ext cx="310788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thr = 0.465 · Recall = 0.81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F1 = 0.104 (cumple piso)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→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ELEGIDO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88" name="Rectangle 19"/>
          <p:cNvSpPr/>
          <p:nvPr/>
        </p:nvSpPr>
        <p:spPr>
          <a:xfrm>
            <a:off x="548640" y="3840480"/>
            <a:ext cx="11063160" cy="246780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20"/>
          <p:cNvSpPr/>
          <p:nvPr/>
        </p:nvSpPr>
        <p:spPr>
          <a:xfrm>
            <a:off x="822960" y="4023360"/>
            <a:ext cx="1051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1a2555"/>
                </a:solidFill>
                <a:latin typeface="Calibri"/>
                <a:ea typeface="DejaVu Sans"/>
              </a:rPr>
              <a:t>Por qué Recall pesa más que F1 en salud</a:t>
            </a:r>
            <a:endParaRPr b="0" lang="es-MX" sz="1800" spc="-1" strike="noStrike">
              <a:latin typeface="Arial"/>
            </a:endParaRPr>
          </a:p>
        </p:txBody>
      </p:sp>
      <p:sp>
        <p:nvSpPr>
          <p:cNvPr id="190" name="TextBox 21"/>
          <p:cNvSpPr/>
          <p:nvPr/>
        </p:nvSpPr>
        <p:spPr>
          <a:xfrm>
            <a:off x="822960" y="4480560"/>
            <a:ext cx="6582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En prevención cardiovascular, un falso negativo cuesta mucho más que un falso positivo.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191" name="TextBox 22"/>
          <p:cNvSpPr/>
          <p:nvPr/>
        </p:nvSpPr>
        <p:spPr>
          <a:xfrm>
            <a:off x="822960" y="4983480"/>
            <a:ext cx="6582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· FN: paciente con riesgo real no recibe seguimiento → evento cardiovascular → hospitalización + indemnización.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· FP: paciente sano marcado para chequeo → coste de una consulta médica adicional.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El F1 ≥ 0.10 evita el modelo trivial "alerta a todos"; el resto del trade-off se entrega al Recall.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192" name="Rectangle 23"/>
          <p:cNvSpPr/>
          <p:nvPr/>
        </p:nvSpPr>
        <p:spPr>
          <a:xfrm>
            <a:off x="7680960" y="4434840"/>
            <a:ext cx="3656520" cy="178200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24"/>
          <p:cNvSpPr/>
          <p:nvPr/>
        </p:nvSpPr>
        <p:spPr>
          <a:xfrm>
            <a:off x="7680960" y="4572000"/>
            <a:ext cx="3656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e85454"/>
                </a:solidFill>
                <a:latin typeface="Calibri"/>
                <a:ea typeface="DejaVu Sans"/>
              </a:rPr>
              <a:t>Orden de magnitud del coste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94" name="TextBox 25"/>
          <p:cNvSpPr/>
          <p:nvPr/>
        </p:nvSpPr>
        <p:spPr>
          <a:xfrm>
            <a:off x="7680960" y="5013360"/>
            <a:ext cx="36565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1a2555"/>
                </a:solidFill>
                <a:latin typeface="Georgia"/>
                <a:ea typeface="DejaVu Sans"/>
              </a:rPr>
              <a:t>1  FN  ≈  20–50  FP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195" name="TextBox 26"/>
          <p:cNvSpPr/>
          <p:nvPr/>
        </p:nvSpPr>
        <p:spPr>
          <a:xfrm>
            <a:off x="7680960" y="5486400"/>
            <a:ext cx="36565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Hospitalización + cirugía + indemnización frente a una consulta preventiva.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196" name="Rectangle 27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28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198" name="TextBox 29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6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6.  Resultados: LR_balanced @ thr = 0.465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Evaluado en test set de 7,170 pacientes (156 positivos)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548640" y="13716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Rectangle 5"/>
          <p:cNvSpPr/>
          <p:nvPr/>
        </p:nvSpPr>
        <p:spPr>
          <a:xfrm>
            <a:off x="548640" y="1371600"/>
            <a:ext cx="108720" cy="7761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6"/>
          <p:cNvSpPr/>
          <p:nvPr/>
        </p:nvSpPr>
        <p:spPr>
          <a:xfrm>
            <a:off x="777240" y="14173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Recall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05" name="TextBox 7"/>
          <p:cNvSpPr/>
          <p:nvPr/>
        </p:nvSpPr>
        <p:spPr>
          <a:xfrm>
            <a:off x="777240" y="16459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0.808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06" name="TextBox 8"/>
          <p:cNvSpPr/>
          <p:nvPr/>
        </p:nvSpPr>
        <p:spPr>
          <a:xfrm>
            <a:off x="2286000" y="14173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≥ </a:t>
            </a: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0.70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07" name="TextBox 9"/>
          <p:cNvSpPr/>
          <p:nvPr/>
        </p:nvSpPr>
        <p:spPr>
          <a:xfrm>
            <a:off x="2286000" y="1664280"/>
            <a:ext cx="15534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capta 128 / 156 infartos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08" name="Rectangle 10"/>
          <p:cNvSpPr/>
          <p:nvPr/>
        </p:nvSpPr>
        <p:spPr>
          <a:xfrm>
            <a:off x="4069080" y="13716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Rectangle 11"/>
          <p:cNvSpPr/>
          <p:nvPr/>
        </p:nvSpPr>
        <p:spPr>
          <a:xfrm>
            <a:off x="4069080" y="1371600"/>
            <a:ext cx="108720" cy="7761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0" name="TextBox 12"/>
          <p:cNvSpPr/>
          <p:nvPr/>
        </p:nvSpPr>
        <p:spPr>
          <a:xfrm>
            <a:off x="4297680" y="14173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F1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11" name="TextBox 13"/>
          <p:cNvSpPr/>
          <p:nvPr/>
        </p:nvSpPr>
        <p:spPr>
          <a:xfrm>
            <a:off x="4297680" y="16459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0.104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12" name="TextBox 14"/>
          <p:cNvSpPr/>
          <p:nvPr/>
        </p:nvSpPr>
        <p:spPr>
          <a:xfrm>
            <a:off x="5806440" y="14173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≥ </a:t>
            </a: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0.10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13" name="TextBox 15"/>
          <p:cNvSpPr/>
          <p:nvPr/>
        </p:nvSpPr>
        <p:spPr>
          <a:xfrm>
            <a:off x="5806440" y="166428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~2.5x sobre baseline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14" name="Rectangle 16"/>
          <p:cNvSpPr/>
          <p:nvPr/>
        </p:nvSpPr>
        <p:spPr>
          <a:xfrm>
            <a:off x="548640" y="22860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Rectangle 17"/>
          <p:cNvSpPr/>
          <p:nvPr/>
        </p:nvSpPr>
        <p:spPr>
          <a:xfrm>
            <a:off x="548640" y="2286000"/>
            <a:ext cx="108720" cy="7761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18"/>
          <p:cNvSpPr/>
          <p:nvPr/>
        </p:nvSpPr>
        <p:spPr>
          <a:xfrm>
            <a:off x="777240" y="23317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PR-AUC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17" name="TextBox 19"/>
          <p:cNvSpPr/>
          <p:nvPr/>
        </p:nvSpPr>
        <p:spPr>
          <a:xfrm>
            <a:off x="777240" y="25603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0.090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18" name="TextBox 20"/>
          <p:cNvSpPr/>
          <p:nvPr/>
        </p:nvSpPr>
        <p:spPr>
          <a:xfrm>
            <a:off x="2286000" y="23317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base 0.022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19" name="TextBox 21"/>
          <p:cNvSpPr/>
          <p:nvPr/>
        </p:nvSpPr>
        <p:spPr>
          <a:xfrm>
            <a:off x="2286000" y="257868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4x sobre random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20" name="Rectangle 22"/>
          <p:cNvSpPr/>
          <p:nvPr/>
        </p:nvSpPr>
        <p:spPr>
          <a:xfrm>
            <a:off x="4069080" y="22860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1" name="Rectangle 23"/>
          <p:cNvSpPr/>
          <p:nvPr/>
        </p:nvSpPr>
        <p:spPr>
          <a:xfrm>
            <a:off x="4069080" y="2286000"/>
            <a:ext cx="108720" cy="7761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2" name="TextBox 24"/>
          <p:cNvSpPr/>
          <p:nvPr/>
        </p:nvSpPr>
        <p:spPr>
          <a:xfrm>
            <a:off x="4297680" y="23317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MCC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23" name="TextBox 25"/>
          <p:cNvSpPr/>
          <p:nvPr/>
        </p:nvSpPr>
        <p:spPr>
          <a:xfrm>
            <a:off x="4297680" y="25603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0.158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24" name="TextBox 26"/>
          <p:cNvSpPr/>
          <p:nvPr/>
        </p:nvSpPr>
        <p:spPr>
          <a:xfrm>
            <a:off x="5806440" y="23317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&gt;0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25" name="TextBox 27"/>
          <p:cNvSpPr/>
          <p:nvPr/>
        </p:nvSpPr>
        <p:spPr>
          <a:xfrm>
            <a:off x="5806440" y="2578680"/>
            <a:ext cx="15534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correlación significativa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26" name="Rectangle 28"/>
          <p:cNvSpPr/>
          <p:nvPr/>
        </p:nvSpPr>
        <p:spPr>
          <a:xfrm>
            <a:off x="548640" y="32004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Rectangle 29"/>
          <p:cNvSpPr/>
          <p:nvPr/>
        </p:nvSpPr>
        <p:spPr>
          <a:xfrm>
            <a:off x="548640" y="3200400"/>
            <a:ext cx="108720" cy="77616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8" name="TextBox 30"/>
          <p:cNvSpPr/>
          <p:nvPr/>
        </p:nvSpPr>
        <p:spPr>
          <a:xfrm>
            <a:off x="777240" y="32461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Bal. Accuracy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29" name="TextBox 31"/>
          <p:cNvSpPr/>
          <p:nvPr/>
        </p:nvSpPr>
        <p:spPr>
          <a:xfrm>
            <a:off x="777240" y="34747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0.752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30" name="TextBox 32"/>
          <p:cNvSpPr/>
          <p:nvPr/>
        </p:nvSpPr>
        <p:spPr>
          <a:xfrm>
            <a:off x="2286000" y="32461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f8a3e"/>
                </a:solidFill>
                <a:latin typeface="Calibri"/>
                <a:ea typeface="DejaVu Sans"/>
              </a:rPr>
              <a:t>&gt;0.5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31" name="TextBox 33"/>
          <p:cNvSpPr/>
          <p:nvPr/>
        </p:nvSpPr>
        <p:spPr>
          <a:xfrm>
            <a:off x="2286000" y="3493080"/>
            <a:ext cx="15534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sensibilidad + especificidad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32" name="Rectangle 34"/>
          <p:cNvSpPr/>
          <p:nvPr/>
        </p:nvSpPr>
        <p:spPr>
          <a:xfrm>
            <a:off x="4069080" y="3200400"/>
            <a:ext cx="3382200" cy="77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Rectangle 35"/>
          <p:cNvSpPr/>
          <p:nvPr/>
        </p:nvSpPr>
        <p:spPr>
          <a:xfrm>
            <a:off x="4069080" y="3200400"/>
            <a:ext cx="108720" cy="776160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TextBox 36"/>
          <p:cNvSpPr/>
          <p:nvPr/>
        </p:nvSpPr>
        <p:spPr>
          <a:xfrm>
            <a:off x="4297680" y="3246120"/>
            <a:ext cx="1461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Precision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35" name="TextBox 37"/>
          <p:cNvSpPr/>
          <p:nvPr/>
        </p:nvSpPr>
        <p:spPr>
          <a:xfrm>
            <a:off x="4297680" y="3474720"/>
            <a:ext cx="1461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2f3c7e"/>
                </a:solidFill>
                <a:latin typeface="Georgia"/>
                <a:ea typeface="DejaVu Sans"/>
              </a:rPr>
              <a:t>0.056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36" name="TextBox 38"/>
          <p:cNvSpPr/>
          <p:nvPr/>
        </p:nvSpPr>
        <p:spPr>
          <a:xfrm>
            <a:off x="5806440" y="3246120"/>
            <a:ext cx="1553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b87800"/>
                </a:solidFill>
                <a:latin typeface="Calibri"/>
                <a:ea typeface="DejaVu Sans"/>
              </a:rPr>
              <a:t>-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37" name="TextBox 39"/>
          <p:cNvSpPr/>
          <p:nvPr/>
        </p:nvSpPr>
        <p:spPr>
          <a:xfrm>
            <a:off x="5806440" y="3493080"/>
            <a:ext cx="15534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~18 FP por TP: esperado</a:t>
            </a:r>
            <a:endParaRPr b="0" lang="es-MX" sz="1300" spc="-1" strike="noStrike">
              <a:latin typeface="Arial"/>
            </a:endParaRPr>
          </a:p>
        </p:txBody>
      </p:sp>
      <p:pic>
        <p:nvPicPr>
          <p:cNvPr id="238" name="Picture 40" descr="slide_confusion_real.png"/>
          <p:cNvPicPr/>
          <p:nvPr/>
        </p:nvPicPr>
        <p:blipFill>
          <a:blip r:embed="rId1"/>
          <a:stretch/>
        </p:blipFill>
        <p:spPr>
          <a:xfrm>
            <a:off x="7560000" y="1594800"/>
            <a:ext cx="4250520" cy="2365200"/>
          </a:xfrm>
          <a:prstGeom prst="rect">
            <a:avLst/>
          </a:prstGeom>
          <a:ln w="0">
            <a:noFill/>
          </a:ln>
        </p:spPr>
      </p:pic>
      <p:sp>
        <p:nvSpPr>
          <p:cNvPr id="239" name="TextBox 41"/>
          <p:cNvSpPr/>
          <p:nvPr/>
        </p:nvSpPr>
        <p:spPr>
          <a:xfrm>
            <a:off x="7269480" y="4068000"/>
            <a:ext cx="4662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4a5462"/>
                </a:solidFill>
                <a:latin typeface="Calibri"/>
                <a:ea typeface="DejaVu Sans"/>
              </a:rPr>
              <a:t>Matrices de confusión - thr=0.5 vs thr operativo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40" name="Rectangle 42"/>
          <p:cNvSpPr/>
          <p:nvPr/>
        </p:nvSpPr>
        <p:spPr>
          <a:xfrm>
            <a:off x="548640" y="4920120"/>
            <a:ext cx="11063160" cy="77616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TextBox 43"/>
          <p:cNvSpPr/>
          <p:nvPr/>
        </p:nvSpPr>
        <p:spPr>
          <a:xfrm>
            <a:off x="777240" y="4993200"/>
            <a:ext cx="10605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990011"/>
                </a:solidFill>
                <a:latin typeface="Calibri"/>
                <a:ea typeface="DejaVu Sans"/>
              </a:rPr>
              <a:t>Cumple ambos gates de calidad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242" name="TextBox 44"/>
          <p:cNvSpPr/>
          <p:nvPr/>
        </p:nvSpPr>
        <p:spPr>
          <a:xfrm>
            <a:off x="777240" y="5285880"/>
            <a:ext cx="106059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Recall ≥ 0.70 ✓   ·   F1 ≥ 0.10 ✓   ·   modelo seleccionado automáticamente por el pipeline y promovido a producción.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43" name="Rectangle 45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4" name="TextBox 46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245" name="TextBox 47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7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7.  Estrategia de uso del modelo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248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Decisión clínica derivada del threshold operativo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403560" y="1371600"/>
            <a:ext cx="3702240" cy="452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Rectangle 5"/>
          <p:cNvSpPr/>
          <p:nvPr/>
        </p:nvSpPr>
        <p:spPr>
          <a:xfrm>
            <a:off x="403560" y="1371600"/>
            <a:ext cx="3702240" cy="913320"/>
          </a:xfrm>
          <a:prstGeom prst="rect">
            <a:avLst/>
          </a:prstGeom>
          <a:solidFill>
            <a:srgbClr val="e854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6"/>
          <p:cNvSpPr/>
          <p:nvPr/>
        </p:nvSpPr>
        <p:spPr>
          <a:xfrm>
            <a:off x="403560" y="1562040"/>
            <a:ext cx="37022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1a2555"/>
                </a:solidFill>
                <a:latin typeface="Calibri"/>
                <a:ea typeface="DejaVu Sans"/>
              </a:rPr>
              <a:t>ALTO_RIESGO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252" name="TextBox 7"/>
          <p:cNvSpPr/>
          <p:nvPr/>
        </p:nvSpPr>
        <p:spPr>
          <a:xfrm>
            <a:off x="403560" y="1927800"/>
            <a:ext cx="37022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prob ≥ 0.465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53" name="TextBox 8"/>
          <p:cNvSpPr/>
          <p:nvPr/>
        </p:nvSpPr>
        <p:spPr>
          <a:xfrm>
            <a:off x="677880" y="2468880"/>
            <a:ext cx="3153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Acciones recomendadas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54" name="TextBox 9"/>
          <p:cNvSpPr/>
          <p:nvPr/>
        </p:nvSpPr>
        <p:spPr>
          <a:xfrm>
            <a:off x="677880" y="2880360"/>
            <a:ext cx="3153600" cy="16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Contacto proactivo del equipo médico de la aseguradora.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Chequeo cardiovascular completo (ECG, perfil lipídico).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Plan de prevención: control de tensión, abandono del tabaco, seguimiento mensual.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403560" y="4892040"/>
            <a:ext cx="3702240" cy="100476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6" name="TextBox 11"/>
          <p:cNvSpPr/>
          <p:nvPr/>
        </p:nvSpPr>
        <p:spPr>
          <a:xfrm>
            <a:off x="677880" y="5043960"/>
            <a:ext cx="315360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e85454"/>
                </a:solidFill>
                <a:latin typeface="Georgia"/>
                <a:ea typeface="DejaVu Sans"/>
              </a:rPr>
              <a:t>~33 % de la cartera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57" name="TextBox 12"/>
          <p:cNvSpPr/>
          <p:nvPr/>
        </p:nvSpPr>
        <p:spPr>
          <a:xfrm>
            <a:off x="677880" y="5470920"/>
            <a:ext cx="3153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Mayor inversión preventiva: recupera siniestros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4244040" y="1371600"/>
            <a:ext cx="3702240" cy="452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Rectangle 14"/>
          <p:cNvSpPr/>
          <p:nvPr/>
        </p:nvSpPr>
        <p:spPr>
          <a:xfrm>
            <a:off x="4244040" y="1371600"/>
            <a:ext cx="3702240" cy="913320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0" name="TextBox 15"/>
          <p:cNvSpPr/>
          <p:nvPr/>
        </p:nvSpPr>
        <p:spPr>
          <a:xfrm>
            <a:off x="4244040" y="1562040"/>
            <a:ext cx="37022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1a2555"/>
                </a:solidFill>
                <a:latin typeface="Calibri"/>
                <a:ea typeface="DejaVu Sans"/>
              </a:rPr>
              <a:t>REVISAR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261" name="TextBox 16"/>
          <p:cNvSpPr/>
          <p:nvPr/>
        </p:nvSpPr>
        <p:spPr>
          <a:xfrm>
            <a:off x="4244040" y="1927800"/>
            <a:ext cx="37022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0.200 ≤ prob &lt; 0.465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62" name="TextBox 17"/>
          <p:cNvSpPr/>
          <p:nvPr/>
        </p:nvSpPr>
        <p:spPr>
          <a:xfrm>
            <a:off x="4518360" y="2468880"/>
            <a:ext cx="3153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Acciones recomendadas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4518360" y="2880360"/>
            <a:ext cx="315360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Inclusión en campaña de salud preventiva por correo o teléfono.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Recomendación de chequeo anual gratuito.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Re-evaluación al año con nuevos datos.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64" name="Rectangle 19"/>
          <p:cNvSpPr/>
          <p:nvPr/>
        </p:nvSpPr>
        <p:spPr>
          <a:xfrm>
            <a:off x="4244040" y="4892040"/>
            <a:ext cx="3702240" cy="100476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5" name="TextBox 20"/>
          <p:cNvSpPr/>
          <p:nvPr/>
        </p:nvSpPr>
        <p:spPr>
          <a:xfrm>
            <a:off x="4518360" y="5043960"/>
            <a:ext cx="315360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b87800"/>
                </a:solidFill>
                <a:latin typeface="Georgia"/>
                <a:ea typeface="DejaVu Sans"/>
              </a:rPr>
              <a:t>~10 % de la cartera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66" name="TextBox 21"/>
          <p:cNvSpPr/>
          <p:nvPr/>
        </p:nvSpPr>
        <p:spPr>
          <a:xfrm>
            <a:off x="4518360" y="5569920"/>
            <a:ext cx="31536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Intervención de bajo coste, alta cobertura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67" name="Rectangle 22"/>
          <p:cNvSpPr/>
          <p:nvPr/>
        </p:nvSpPr>
        <p:spPr>
          <a:xfrm>
            <a:off x="8084520" y="1371600"/>
            <a:ext cx="3702240" cy="4525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Rectangle 23"/>
          <p:cNvSpPr/>
          <p:nvPr/>
        </p:nvSpPr>
        <p:spPr>
          <a:xfrm>
            <a:off x="8084520" y="1371600"/>
            <a:ext cx="3702240" cy="913320"/>
          </a:xfrm>
          <a:prstGeom prst="rect">
            <a:avLst/>
          </a:prstGeom>
          <a:solidFill>
            <a:srgbClr val="4f8a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9" name="TextBox 24"/>
          <p:cNvSpPr/>
          <p:nvPr/>
        </p:nvSpPr>
        <p:spPr>
          <a:xfrm>
            <a:off x="8084520" y="1562040"/>
            <a:ext cx="37022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1a2555"/>
                </a:solidFill>
                <a:latin typeface="Calibri"/>
                <a:ea typeface="DejaVu Sans"/>
              </a:rPr>
              <a:t>BAJO_RIESGO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270" name="TextBox 25"/>
          <p:cNvSpPr/>
          <p:nvPr/>
        </p:nvSpPr>
        <p:spPr>
          <a:xfrm>
            <a:off x="8084520" y="1927800"/>
            <a:ext cx="37022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prob &lt; 0.200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8358840" y="2468880"/>
            <a:ext cx="31536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3c7e"/>
                </a:solidFill>
                <a:latin typeface="Calibri"/>
                <a:ea typeface="DejaVu Sans"/>
              </a:rPr>
              <a:t>Acciones recomendadas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72" name="TextBox 27"/>
          <p:cNvSpPr/>
          <p:nvPr/>
        </p:nvSpPr>
        <p:spPr>
          <a:xfrm>
            <a:off x="8358840" y="2880360"/>
            <a:ext cx="315360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4f8a3e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Comunicación estándar de hábitos saludables.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4f8a3e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Sin coste operativo adicional.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4f8a3e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Monitoreo pasivo en la siguiente cohorte anual.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73" name="Rectangle 28"/>
          <p:cNvSpPr/>
          <p:nvPr/>
        </p:nvSpPr>
        <p:spPr>
          <a:xfrm>
            <a:off x="8084520" y="4892040"/>
            <a:ext cx="3702240" cy="1004760"/>
          </a:xfrm>
          <a:prstGeom prst="rect">
            <a:avLst/>
          </a:prstGeom>
          <a:solidFill>
            <a:srgbClr val="f5ee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4" name="TextBox 29"/>
          <p:cNvSpPr/>
          <p:nvPr/>
        </p:nvSpPr>
        <p:spPr>
          <a:xfrm>
            <a:off x="8358840" y="5043960"/>
            <a:ext cx="315360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4f8a3e"/>
                </a:solidFill>
                <a:latin typeface="Georgia"/>
                <a:ea typeface="DejaVu Sans"/>
              </a:rPr>
              <a:t>~57 % de la cartera</a:t>
            </a:r>
            <a:endParaRPr b="0" lang="es-MX" sz="2200" spc="-1" strike="noStrike">
              <a:latin typeface="Arial"/>
            </a:endParaRPr>
          </a:p>
        </p:txBody>
      </p:sp>
      <p:sp>
        <p:nvSpPr>
          <p:cNvPr id="275" name="TextBox 30"/>
          <p:cNvSpPr/>
          <p:nvPr/>
        </p:nvSpPr>
        <p:spPr>
          <a:xfrm>
            <a:off x="8358840" y="5569920"/>
            <a:ext cx="31536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36454f"/>
                </a:solidFill>
                <a:latin typeface="Calibri"/>
                <a:ea typeface="DejaVu Sans"/>
              </a:rPr>
              <a:t>Coste cero: pipeline solo monitorea drift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76" name="Rectangle 31"/>
          <p:cNvSpPr/>
          <p:nvPr/>
        </p:nvSpPr>
        <p:spPr>
          <a:xfrm>
            <a:off x="548640" y="6080760"/>
            <a:ext cx="11063160" cy="41040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TextBox 32"/>
          <p:cNvSpPr/>
          <p:nvPr/>
        </p:nvSpPr>
        <p:spPr>
          <a:xfrm>
            <a:off x="548640" y="6202800"/>
            <a:ext cx="1106316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1a2555"/>
                </a:solidFill>
                <a:latin typeface="Calibri"/>
                <a:ea typeface="DejaVu Sans"/>
              </a:rPr>
              <a:t>Impacto esperado: con ~33 % de pacientes en ALTO o REVISAR, capturamos 81 % de los infartos a un coste de seguimiento manejable.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278" name="Rectangle 33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9" name="TextBox 34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280" name="TextBox 35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8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2" name="TextBox 2"/>
          <p:cNvSpPr/>
          <p:nvPr/>
        </p:nvSpPr>
        <p:spPr>
          <a:xfrm>
            <a:off x="548640" y="36576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990011"/>
                </a:solidFill>
                <a:latin typeface="Calibri"/>
                <a:ea typeface="DejaVu Sans"/>
              </a:rPr>
              <a:t>8.  Arquitectura MLOps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283" name="TextBox 3"/>
          <p:cNvSpPr/>
          <p:nvPr/>
        </p:nvSpPr>
        <p:spPr>
          <a:xfrm>
            <a:off x="548640" y="82296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4a5462"/>
                </a:solidFill>
                <a:latin typeface="Calibri"/>
                <a:ea typeface="DejaVu Sans"/>
              </a:rPr>
              <a:t>Del notebook al servicio en producción con CI/CD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284" name="Rectangle 4"/>
          <p:cNvSpPr/>
          <p:nvPr/>
        </p:nvSpPr>
        <p:spPr>
          <a:xfrm>
            <a:off x="548640" y="1463040"/>
            <a:ext cx="2513520" cy="127908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5" name="TextBox 5"/>
          <p:cNvSpPr/>
          <p:nvPr/>
        </p:nvSpPr>
        <p:spPr>
          <a:xfrm>
            <a:off x="548640" y="1721880"/>
            <a:ext cx="2513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1a2555"/>
                </a:solidFill>
                <a:latin typeface="Calibri"/>
                <a:ea typeface="DejaVu Sans"/>
              </a:rPr>
              <a:t>Ingesta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286" name="TextBox 6"/>
          <p:cNvSpPr/>
          <p:nvPr/>
        </p:nvSpPr>
        <p:spPr>
          <a:xfrm>
            <a:off x="548640" y="2179080"/>
            <a:ext cx="2513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data_loader</a:t>
            </a:r>
            <a:endParaRPr b="0" lang="es-MX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preprocesar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87" name="Right Arrow 7"/>
          <p:cNvSpPr/>
          <p:nvPr/>
        </p:nvSpPr>
        <p:spPr>
          <a:xfrm>
            <a:off x="3086280" y="1965960"/>
            <a:ext cx="181800" cy="273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8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8" name="Rectangle 8"/>
          <p:cNvSpPr/>
          <p:nvPr/>
        </p:nvSpPr>
        <p:spPr>
          <a:xfrm>
            <a:off x="3291840" y="1463040"/>
            <a:ext cx="2513520" cy="127908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TextBox 9"/>
          <p:cNvSpPr/>
          <p:nvPr/>
        </p:nvSpPr>
        <p:spPr>
          <a:xfrm>
            <a:off x="3291840" y="1721880"/>
            <a:ext cx="2513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1a2555"/>
                </a:solidFill>
                <a:latin typeface="Calibri"/>
                <a:ea typeface="DejaVu Sans"/>
              </a:rPr>
              <a:t>Features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290" name="TextBox 10"/>
          <p:cNvSpPr/>
          <p:nvPr/>
        </p:nvSpPr>
        <p:spPr>
          <a:xfrm>
            <a:off x="3291840" y="2179080"/>
            <a:ext cx="2513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codificar</a:t>
            </a:r>
            <a:endParaRPr b="0" lang="es-MX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SelectKBest (k=10)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91" name="Right Arrow 11"/>
          <p:cNvSpPr/>
          <p:nvPr/>
        </p:nvSpPr>
        <p:spPr>
          <a:xfrm>
            <a:off x="5829480" y="1965960"/>
            <a:ext cx="181800" cy="273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8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Rectangle 12"/>
          <p:cNvSpPr/>
          <p:nvPr/>
        </p:nvSpPr>
        <p:spPr>
          <a:xfrm>
            <a:off x="6035040" y="1463040"/>
            <a:ext cx="2513520" cy="127908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TextBox 13"/>
          <p:cNvSpPr/>
          <p:nvPr/>
        </p:nvSpPr>
        <p:spPr>
          <a:xfrm>
            <a:off x="6035040" y="1721880"/>
            <a:ext cx="2513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1a2555"/>
                </a:solidFill>
                <a:latin typeface="Calibri"/>
                <a:ea typeface="DejaVu Sans"/>
              </a:rPr>
              <a:t>Train + MLflow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294" name="TextBox 14"/>
          <p:cNvSpPr/>
          <p:nvPr/>
        </p:nvSpPr>
        <p:spPr>
          <a:xfrm>
            <a:off x="6035040" y="2179080"/>
            <a:ext cx="2513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LR + RF</a:t>
            </a:r>
            <a:endParaRPr b="0" lang="es-MX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CV 10-fold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95" name="Right Arrow 15"/>
          <p:cNvSpPr/>
          <p:nvPr/>
        </p:nvSpPr>
        <p:spPr>
          <a:xfrm>
            <a:off x="8572680" y="1965960"/>
            <a:ext cx="181800" cy="273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8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6" name="Rectangle 16"/>
          <p:cNvSpPr/>
          <p:nvPr/>
        </p:nvSpPr>
        <p:spPr>
          <a:xfrm>
            <a:off x="8778240" y="1463040"/>
            <a:ext cx="2513520" cy="127908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7" name="TextBox 17"/>
          <p:cNvSpPr/>
          <p:nvPr/>
        </p:nvSpPr>
        <p:spPr>
          <a:xfrm>
            <a:off x="8778240" y="1721880"/>
            <a:ext cx="2513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1a2555"/>
                </a:solidFill>
                <a:latin typeface="Calibri"/>
                <a:ea typeface="DejaVu Sans"/>
              </a:rPr>
              <a:t>Quality gate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298" name="TextBox 18"/>
          <p:cNvSpPr/>
          <p:nvPr/>
        </p:nvSpPr>
        <p:spPr>
          <a:xfrm>
            <a:off x="8778240" y="2179080"/>
            <a:ext cx="25135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Recall ≥ 0.70</a:t>
            </a:r>
            <a:endParaRPr b="0" lang="es-MX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a2555"/>
                </a:solidFill>
                <a:latin typeface="Calibri"/>
                <a:ea typeface="DejaVu Sans"/>
              </a:rPr>
              <a:t>F1 ≥ 0.10</a:t>
            </a:r>
            <a:endParaRPr b="0" lang="es-MX" sz="1300" spc="-1" strike="noStrike">
              <a:latin typeface="Arial"/>
            </a:endParaRPr>
          </a:p>
        </p:txBody>
      </p:sp>
      <p:sp>
        <p:nvSpPr>
          <p:cNvPr id="299" name="TextBox 19"/>
          <p:cNvSpPr/>
          <p:nvPr/>
        </p:nvSpPr>
        <p:spPr>
          <a:xfrm>
            <a:off x="548640" y="3200400"/>
            <a:ext cx="54853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f3c7e"/>
                </a:solidFill>
                <a:latin typeface="Calibri"/>
                <a:ea typeface="DejaVu Sans"/>
              </a:rPr>
              <a:t>Servicios desplegados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300" name="TextBox 20"/>
          <p:cNvSpPr/>
          <p:nvPr/>
        </p:nvSpPr>
        <p:spPr>
          <a:xfrm>
            <a:off x="548640" y="3566160"/>
            <a:ext cx="5485320" cy="14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API FastAPI en Docker: endpoints /health y /predecir.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MLflow tracking: métricas, params y modelos versionados.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docker-compose preprod: 3 servicios (MLflow, trainer, API).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CI/CD GitHub Actions: lint, tests, train, quality gate, docker build.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Monitoreo de drift: Evidently AI, cron semanal (lunes 8am UTC).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301" name="TextBox 21"/>
          <p:cNvSpPr/>
          <p:nvPr/>
        </p:nvSpPr>
        <p:spPr>
          <a:xfrm>
            <a:off x="6400800" y="3200400"/>
            <a:ext cx="52110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f3c7e"/>
                </a:solidFill>
                <a:latin typeface="Calibri"/>
                <a:ea typeface="DejaVu Sans"/>
              </a:rPr>
              <a:t>Calidad y cobertura</a:t>
            </a:r>
            <a:endParaRPr b="0" lang="es-MX" sz="1700" spc="-1" strike="noStrike">
              <a:latin typeface="Arial"/>
            </a:endParaRPr>
          </a:p>
        </p:txBody>
      </p:sp>
      <p:sp>
        <p:nvSpPr>
          <p:cNvPr id="302" name="TextBox 22"/>
          <p:cNvSpPr/>
          <p:nvPr/>
        </p:nvSpPr>
        <p:spPr>
          <a:xfrm>
            <a:off x="6400800" y="3566160"/>
            <a:ext cx="5211000" cy="14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32 tests unitarios (preprocessing, features, modelo, API).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Smoke tests contra servicios reales (httpx + 3 servicios).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Quality gate doble: Recall ≥ 0.70 Y F1 ≥ 0.10.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Threshold operativo persistido y consumido por la API.</a:t>
            </a:r>
            <a:endParaRPr b="0" lang="es-MX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400" spc="-1" strike="noStrike">
                <a:solidFill>
                  <a:srgbClr val="990011"/>
                </a:solidFill>
                <a:latin typeface="Calibri"/>
                <a:ea typeface="DejaVu Sans"/>
              </a:rPr>
              <a:t>■  </a:t>
            </a:r>
            <a:r>
              <a:rPr b="0" lang="en-US" sz="1400" spc="-1" strike="noStrike">
                <a:solidFill>
                  <a:srgbClr val="36454f"/>
                </a:solidFill>
                <a:latin typeface="Calibri"/>
                <a:ea typeface="DejaVu Sans"/>
              </a:rPr>
              <a:t>flake8 sin issues; coverage &gt; 80 %.</a:t>
            </a:r>
            <a:endParaRPr b="0" lang="es-MX" sz="1400" spc="-1" strike="noStrike">
              <a:latin typeface="Arial"/>
            </a:endParaRPr>
          </a:p>
        </p:txBody>
      </p:sp>
      <p:sp>
        <p:nvSpPr>
          <p:cNvPr id="303" name="Rectangle 23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TextBox 24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305" name="TextBox 25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9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e3eb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7" name="TextBox 2"/>
          <p:cNvSpPr/>
          <p:nvPr/>
        </p:nvSpPr>
        <p:spPr>
          <a:xfrm>
            <a:off x="548640" y="457200"/>
            <a:ext cx="11063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1a2555"/>
                </a:solidFill>
                <a:latin typeface="Calibri"/>
                <a:ea typeface="DejaVu Sans"/>
              </a:rPr>
              <a:t>9.  Conclusiones y siguientes pasos</a:t>
            </a:r>
            <a:endParaRPr b="0" lang="es-MX" sz="3000" spc="-1" strike="noStrike">
              <a:latin typeface="Arial"/>
            </a:endParaRPr>
          </a:p>
        </p:txBody>
      </p:sp>
      <p:sp>
        <p:nvSpPr>
          <p:cNvPr id="308" name="TextBox 3"/>
          <p:cNvSpPr/>
          <p:nvPr/>
        </p:nvSpPr>
        <p:spPr>
          <a:xfrm>
            <a:off x="548640" y="960120"/>
            <a:ext cx="11063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Lecciones aprendidas y roadmap para evolucionar el modelo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309" name="Rectangle 4"/>
          <p:cNvSpPr/>
          <p:nvPr/>
        </p:nvSpPr>
        <p:spPr>
          <a:xfrm>
            <a:off x="548640" y="1554480"/>
            <a:ext cx="5485320" cy="4570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0" name="TextBox 5"/>
          <p:cNvSpPr/>
          <p:nvPr/>
        </p:nvSpPr>
        <p:spPr>
          <a:xfrm>
            <a:off x="777240" y="1691640"/>
            <a:ext cx="502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e85454"/>
                </a:solidFill>
                <a:latin typeface="Calibri"/>
                <a:ea typeface="DejaVu Sans"/>
              </a:rPr>
              <a:t>Conclusiones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311" name="TextBox 6"/>
          <p:cNvSpPr/>
          <p:nvPr/>
        </p:nvSpPr>
        <p:spPr>
          <a:xfrm>
            <a:off x="777240" y="2148840"/>
            <a:ext cx="5028120" cy="276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LR_balanced con threshold 0.465 detecta 81 % de los infartos cumpliendo el piso de F1.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Recall fue la métrica correcta: el coste clínico de un FN supera al de un FP.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El desbalance (2.18 %) limita el F1 absoluto: el modelo está 4× sobre el baseline en PR-AUC.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SMOTE fue descartado por distorsionar priors; class_weight bastó.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e85454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El pipeline es reproducible: make train ejecuta todo en ~12 s.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312" name="Rectangle 7"/>
          <p:cNvSpPr/>
          <p:nvPr/>
        </p:nvSpPr>
        <p:spPr>
          <a:xfrm>
            <a:off x="6217920" y="1554480"/>
            <a:ext cx="5485320" cy="4570920"/>
          </a:xfrm>
          <a:prstGeom prst="rect">
            <a:avLst/>
          </a:prstGeom>
          <a:solidFill>
            <a:srgbClr val="fcf6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TextBox 8"/>
          <p:cNvSpPr/>
          <p:nvPr/>
        </p:nvSpPr>
        <p:spPr>
          <a:xfrm>
            <a:off x="6446520" y="1691640"/>
            <a:ext cx="502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b87800"/>
                </a:solidFill>
                <a:latin typeface="Calibri"/>
                <a:ea typeface="DejaVu Sans"/>
              </a:rPr>
              <a:t>Próximos pasos</a:t>
            </a:r>
            <a:endParaRPr b="0" lang="es-MX" sz="2000" spc="-1" strike="noStrike">
              <a:latin typeface="Arial"/>
            </a:endParaRPr>
          </a:p>
        </p:txBody>
      </p:sp>
      <p:sp>
        <p:nvSpPr>
          <p:cNvPr id="314" name="TextBox 9"/>
          <p:cNvSpPr/>
          <p:nvPr/>
        </p:nvSpPr>
        <p:spPr>
          <a:xfrm>
            <a:off x="6446520" y="2148840"/>
            <a:ext cx="5028120" cy="276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Enriquecer features: colesterol, historial familiar, ECG, medicación: debería subir PR-AUC y F1.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Re-entrenar trimestralmente con lotes nuevos; usar monitoreo de drift para disparar reentrenamientos.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Calibración de probabilidades en producción (Platt) para que el threshold mantenga su significado en el tiempo.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A/B test del flujo "ALTO_RIESGO → contacto proactivo" vs control para medir reducción real de siniestros.</a:t>
            </a:r>
            <a:endParaRPr b="0" lang="es-MX" sz="15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400"/>
              </a:spcAft>
              <a:buNone/>
            </a:pPr>
            <a:r>
              <a:rPr b="1" lang="en-US" sz="1500" spc="-1" strike="noStrike">
                <a:solidFill>
                  <a:srgbClr val="b87800"/>
                </a:solidFill>
                <a:latin typeface="Calibri"/>
                <a:ea typeface="DejaVu Sans"/>
              </a:rPr>
              <a:t>■  </a:t>
            </a:r>
            <a:r>
              <a:rPr b="0" lang="en-US" sz="1500" spc="-1" strike="noStrike">
                <a:solidFill>
                  <a:srgbClr val="1a2555"/>
                </a:solidFill>
                <a:latin typeface="Calibri"/>
                <a:ea typeface="DejaVu Sans"/>
              </a:rPr>
              <a:t>Explicabilidad: SHAP por paciente en la respuesta de la API.</a:t>
            </a:r>
            <a:endParaRPr b="0" lang="es-MX" sz="1500" spc="-1" strike="noStrike">
              <a:latin typeface="Arial"/>
            </a:endParaRPr>
          </a:p>
        </p:txBody>
      </p:sp>
      <p:sp>
        <p:nvSpPr>
          <p:cNvPr id="315" name="TextBox 10"/>
          <p:cNvSpPr/>
          <p:nvPr/>
        </p:nvSpPr>
        <p:spPr>
          <a:xfrm>
            <a:off x="548640" y="6263640"/>
            <a:ext cx="110631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600" spc="-1" strike="noStrike">
                <a:solidFill>
                  <a:srgbClr val="1a2555"/>
                </a:solidFill>
                <a:latin typeface="Calibri"/>
                <a:ea typeface="DejaVu Sans"/>
              </a:rPr>
              <a:t>Gracias.</a:t>
            </a:r>
            <a:endParaRPr b="0" lang="es-MX" sz="1600" spc="-1" strike="noStrike">
              <a:latin typeface="Arial"/>
            </a:endParaRPr>
          </a:p>
        </p:txBody>
      </p:sp>
      <p:sp>
        <p:nvSpPr>
          <p:cNvPr id="316" name="Rectangle 11"/>
          <p:cNvSpPr/>
          <p:nvPr/>
        </p:nvSpPr>
        <p:spPr>
          <a:xfrm>
            <a:off x="0" y="6565320"/>
            <a:ext cx="12190680" cy="291600"/>
          </a:xfrm>
          <a:prstGeom prst="rect">
            <a:avLst/>
          </a:prstGeom>
          <a:solidFill>
            <a:srgbClr val="f2d9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7" name="TextBox 12"/>
          <p:cNvSpPr/>
          <p:nvPr/>
        </p:nvSpPr>
        <p:spPr>
          <a:xfrm>
            <a:off x="365760" y="6620040"/>
            <a:ext cx="7314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Prevención de Infartos en Asegurados</a:t>
            </a:r>
            <a:endParaRPr b="0" lang="es-MX" sz="1200" spc="-1" strike="noStrike">
              <a:latin typeface="Arial"/>
            </a:endParaRPr>
          </a:p>
        </p:txBody>
      </p:sp>
      <p:sp>
        <p:nvSpPr>
          <p:cNvPr id="318" name="TextBox 13"/>
          <p:cNvSpPr/>
          <p:nvPr/>
        </p:nvSpPr>
        <p:spPr>
          <a:xfrm>
            <a:off x="11094480" y="662004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a2555"/>
                </a:solidFill>
                <a:latin typeface="Calibri"/>
                <a:ea typeface="DejaVu Sans"/>
              </a:rPr>
              <a:t>10 / 10</a:t>
            </a:r>
            <a:endParaRPr b="0" lang="es-MX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es-MX</dc:language>
  <cp:lastModifiedBy/>
  <dcterms:modified xsi:type="dcterms:W3CDTF">2026-05-22T10:00:21Z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